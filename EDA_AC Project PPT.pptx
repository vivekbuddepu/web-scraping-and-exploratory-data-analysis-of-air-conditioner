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27"/>
  </p:notesMasterIdLst>
  <p:sldIdLst>
    <p:sldId id="281" r:id="rId2"/>
    <p:sldId id="258" r:id="rId3"/>
    <p:sldId id="259" r:id="rId4"/>
    <p:sldId id="260" r:id="rId5"/>
    <p:sldId id="261" r:id="rId6"/>
    <p:sldId id="262" r:id="rId7"/>
    <p:sldId id="263" r:id="rId8"/>
    <p:sldId id="264" r:id="rId9"/>
    <p:sldId id="282" r:id="rId10"/>
    <p:sldId id="266" r:id="rId11"/>
    <p:sldId id="283" r:id="rId12"/>
    <p:sldId id="284" r:id="rId13"/>
    <p:sldId id="267" r:id="rId14"/>
    <p:sldId id="268" r:id="rId15"/>
    <p:sldId id="269" r:id="rId16"/>
    <p:sldId id="285" r:id="rId17"/>
    <p:sldId id="286" r:id="rId18"/>
    <p:sldId id="290" r:id="rId19"/>
    <p:sldId id="289" r:id="rId20"/>
    <p:sldId id="288" r:id="rId21"/>
    <p:sldId id="287" r:id="rId22"/>
    <p:sldId id="270" r:id="rId23"/>
    <p:sldId id="271" r:id="rId24"/>
    <p:sldId id="274" r:id="rId25"/>
    <p:sldId id="291"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2EEBAC-2D64-418B-8F94-E0479178DD9D}" type="datetimeFigureOut">
              <a:rPr lang="en-IN" smtClean="0"/>
              <a:t>08-11-2025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BFE3C5-1EE8-4169-AA99-C697EDF8DD6D}" type="slidenum">
              <a:rPr lang="en-IN" smtClean="0"/>
              <a:t>‹#›</a:t>
            </a:fld>
            <a:endParaRPr lang="en-IN"/>
          </a:p>
        </p:txBody>
      </p:sp>
    </p:spTree>
    <p:extLst>
      <p:ext uri="{BB962C8B-B14F-4D97-AF65-F5344CB8AC3E}">
        <p14:creationId xmlns:p14="http://schemas.microsoft.com/office/powerpoint/2010/main" val="21371496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810337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9417211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B4BCEC3-63C8-4B89-BF34-B4E05A023BFE}" type="datetimeFigureOut">
              <a:rPr lang="en-IN" smtClean="0"/>
              <a:t>08-11-2025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A43D837-5CDC-49AE-BAD6-AF2409DD5106}" type="slidenum">
              <a:rPr lang="en-IN" smtClean="0"/>
              <a:t>‹#›</a:t>
            </a:fld>
            <a:endParaRPr lang="en-IN"/>
          </a:p>
        </p:txBody>
      </p:sp>
    </p:spTree>
    <p:extLst>
      <p:ext uri="{BB962C8B-B14F-4D97-AF65-F5344CB8AC3E}">
        <p14:creationId xmlns:p14="http://schemas.microsoft.com/office/powerpoint/2010/main" val="29454246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4BCEC3-63C8-4B89-BF34-B4E05A023BFE}" type="datetimeFigureOut">
              <a:rPr lang="en-IN" smtClean="0"/>
              <a:t>08-11-2025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A43D837-5CDC-49AE-BAD6-AF2409DD5106}" type="slidenum">
              <a:rPr lang="en-IN" smtClean="0"/>
              <a:t>‹#›</a:t>
            </a:fld>
            <a:endParaRPr lang="en-IN"/>
          </a:p>
        </p:txBody>
      </p:sp>
    </p:spTree>
    <p:extLst>
      <p:ext uri="{BB962C8B-B14F-4D97-AF65-F5344CB8AC3E}">
        <p14:creationId xmlns:p14="http://schemas.microsoft.com/office/powerpoint/2010/main" val="36647370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B4BCEC3-63C8-4B89-BF34-B4E05A023BFE}" type="datetimeFigureOut">
              <a:rPr lang="en-IN" smtClean="0"/>
              <a:t>08-11-2025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A43D837-5CDC-49AE-BAD6-AF2409DD5106}" type="slidenum">
              <a:rPr lang="en-IN" smtClean="0"/>
              <a:t>‹#›</a:t>
            </a:fld>
            <a:endParaRPr lang="en-IN"/>
          </a:p>
        </p:txBody>
      </p:sp>
    </p:spTree>
    <p:extLst>
      <p:ext uri="{BB962C8B-B14F-4D97-AF65-F5344CB8AC3E}">
        <p14:creationId xmlns:p14="http://schemas.microsoft.com/office/powerpoint/2010/main" val="13552163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B4BCEC3-63C8-4B89-BF34-B4E05A023BFE}" type="datetimeFigureOut">
              <a:rPr lang="en-IN" smtClean="0"/>
              <a:t>08-11-2025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A43D837-5CDC-49AE-BAD6-AF2409DD5106}" type="slidenum">
              <a:rPr lang="en-IN" smtClean="0"/>
              <a:t>‹#›</a:t>
            </a:fld>
            <a:endParaRPr lang="en-IN"/>
          </a:p>
        </p:txBody>
      </p:sp>
    </p:spTree>
    <p:extLst>
      <p:ext uri="{BB962C8B-B14F-4D97-AF65-F5344CB8AC3E}">
        <p14:creationId xmlns:p14="http://schemas.microsoft.com/office/powerpoint/2010/main" val="30265562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B4BCEC3-63C8-4B89-BF34-B4E05A023BFE}" type="datetimeFigureOut">
              <a:rPr lang="en-IN" smtClean="0"/>
              <a:t>08-11-2025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A43D837-5CDC-49AE-BAD6-AF2409DD5106}" type="slidenum">
              <a:rPr lang="en-IN" smtClean="0"/>
              <a:t>‹#›</a:t>
            </a:fld>
            <a:endParaRPr lang="en-IN"/>
          </a:p>
        </p:txBody>
      </p:sp>
    </p:spTree>
    <p:extLst>
      <p:ext uri="{BB962C8B-B14F-4D97-AF65-F5344CB8AC3E}">
        <p14:creationId xmlns:p14="http://schemas.microsoft.com/office/powerpoint/2010/main" val="22340253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B4BCEC3-63C8-4B89-BF34-B4E05A023BFE}" type="datetimeFigureOut">
              <a:rPr lang="en-IN" smtClean="0"/>
              <a:t>08-11-2025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A43D837-5CDC-49AE-BAD6-AF2409DD5106}" type="slidenum">
              <a:rPr lang="en-IN" smtClean="0"/>
              <a:t>‹#›</a:t>
            </a:fld>
            <a:endParaRPr lang="en-IN"/>
          </a:p>
        </p:txBody>
      </p:sp>
    </p:spTree>
    <p:extLst>
      <p:ext uri="{BB962C8B-B14F-4D97-AF65-F5344CB8AC3E}">
        <p14:creationId xmlns:p14="http://schemas.microsoft.com/office/powerpoint/2010/main" val="38919036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6B4BCEC3-63C8-4B89-BF34-B4E05A023BFE}" type="datetimeFigureOut">
              <a:rPr lang="en-IN" smtClean="0"/>
              <a:t>08-11-2025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A43D837-5CDC-49AE-BAD6-AF2409DD5106}" type="slidenum">
              <a:rPr lang="en-IN" smtClean="0"/>
              <a:t>‹#›</a:t>
            </a:fld>
            <a:endParaRPr lang="en-IN"/>
          </a:p>
        </p:txBody>
      </p:sp>
    </p:spTree>
    <p:extLst>
      <p:ext uri="{BB962C8B-B14F-4D97-AF65-F5344CB8AC3E}">
        <p14:creationId xmlns:p14="http://schemas.microsoft.com/office/powerpoint/2010/main" val="15921353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B4BCEC3-63C8-4B89-BF34-B4E05A023BFE}" type="datetimeFigureOut">
              <a:rPr lang="en-IN" smtClean="0"/>
              <a:t>08-11-2025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A43D837-5CDC-49AE-BAD6-AF2409DD5106}" type="slidenum">
              <a:rPr lang="en-IN" smtClean="0"/>
              <a:t>‹#›</a:t>
            </a:fld>
            <a:endParaRPr lang="en-IN"/>
          </a:p>
        </p:txBody>
      </p:sp>
    </p:spTree>
    <p:extLst>
      <p:ext uri="{BB962C8B-B14F-4D97-AF65-F5344CB8AC3E}">
        <p14:creationId xmlns:p14="http://schemas.microsoft.com/office/powerpoint/2010/main" val="36159960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B4BCEC3-63C8-4B89-BF34-B4E05A023BFE}" type="datetimeFigureOut">
              <a:rPr lang="en-IN" smtClean="0"/>
              <a:t>08-11-2025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A43D837-5CDC-49AE-BAD6-AF2409DD5106}" type="slidenum">
              <a:rPr lang="en-IN" smtClean="0"/>
              <a:t>‹#›</a:t>
            </a:fld>
            <a:endParaRPr lang="en-IN"/>
          </a:p>
        </p:txBody>
      </p:sp>
    </p:spTree>
    <p:extLst>
      <p:ext uri="{BB962C8B-B14F-4D97-AF65-F5344CB8AC3E}">
        <p14:creationId xmlns:p14="http://schemas.microsoft.com/office/powerpoint/2010/main" val="23581013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B4BCEC3-63C8-4B89-BF34-B4E05A023BFE}" type="datetimeFigureOut">
              <a:rPr lang="en-IN" smtClean="0"/>
              <a:t>08-11-2025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A43D837-5CDC-49AE-BAD6-AF2409DD5106}" type="slidenum">
              <a:rPr lang="en-IN" smtClean="0"/>
              <a:t>‹#›</a:t>
            </a:fld>
            <a:endParaRPr lang="en-IN"/>
          </a:p>
        </p:txBody>
      </p:sp>
    </p:spTree>
    <p:extLst>
      <p:ext uri="{BB962C8B-B14F-4D97-AF65-F5344CB8AC3E}">
        <p14:creationId xmlns:p14="http://schemas.microsoft.com/office/powerpoint/2010/main" val="13128892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B4BCEC3-63C8-4B89-BF34-B4E05A023BFE}" type="datetimeFigureOut">
              <a:rPr lang="en-IN" smtClean="0"/>
              <a:t>08-11-2025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A43D837-5CDC-49AE-BAD6-AF2409DD5106}" type="slidenum">
              <a:rPr lang="en-IN" smtClean="0"/>
              <a:t>‹#›</a:t>
            </a:fld>
            <a:endParaRPr lang="en-IN"/>
          </a:p>
        </p:txBody>
      </p:sp>
    </p:spTree>
    <p:extLst>
      <p:ext uri="{BB962C8B-B14F-4D97-AF65-F5344CB8AC3E}">
        <p14:creationId xmlns:p14="http://schemas.microsoft.com/office/powerpoint/2010/main" val="25915475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B4BCEC3-63C8-4B89-BF34-B4E05A023BFE}" type="datetimeFigureOut">
              <a:rPr lang="en-IN" smtClean="0"/>
              <a:t>08-11-2025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A43D837-5CDC-49AE-BAD6-AF2409DD5106}" type="slidenum">
              <a:rPr lang="en-IN" smtClean="0"/>
              <a:t>‹#›</a:t>
            </a:fld>
            <a:endParaRPr lang="en-IN"/>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8195357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B4BCEC3-63C8-4B89-BF34-B4E05A023BFE}" type="datetimeFigureOut">
              <a:rPr lang="en-IN" smtClean="0"/>
              <a:t>08-11-2025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A43D837-5CDC-49AE-BAD6-AF2409DD5106}" type="slidenum">
              <a:rPr lang="en-IN" smtClean="0"/>
              <a:t>‹#›</a:t>
            </a:fld>
            <a:endParaRPr lang="en-IN"/>
          </a:p>
        </p:txBody>
      </p:sp>
    </p:spTree>
    <p:extLst>
      <p:ext uri="{BB962C8B-B14F-4D97-AF65-F5344CB8AC3E}">
        <p14:creationId xmlns:p14="http://schemas.microsoft.com/office/powerpoint/2010/main" val="3834647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6B4BCEC3-63C8-4B89-BF34-B4E05A023BFE}" type="datetimeFigureOut">
              <a:rPr lang="en-IN" smtClean="0"/>
              <a:t>08-11-2025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A43D837-5CDC-49AE-BAD6-AF2409DD5106}" type="slidenum">
              <a:rPr lang="en-IN" smtClean="0"/>
              <a:t>‹#›</a:t>
            </a:fld>
            <a:endParaRPr lang="en-IN"/>
          </a:p>
        </p:txBody>
      </p:sp>
    </p:spTree>
    <p:extLst>
      <p:ext uri="{BB962C8B-B14F-4D97-AF65-F5344CB8AC3E}">
        <p14:creationId xmlns:p14="http://schemas.microsoft.com/office/powerpoint/2010/main" val="9169299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6B4BCEC3-63C8-4B89-BF34-B4E05A023BFE}" type="datetimeFigureOut">
              <a:rPr lang="en-IN" smtClean="0"/>
              <a:t>08-11-2025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A43D837-5CDC-49AE-BAD6-AF2409DD5106}" type="slidenum">
              <a:rPr lang="en-IN" smtClean="0"/>
              <a:t>‹#›</a:t>
            </a:fld>
            <a:endParaRPr lang="en-IN"/>
          </a:p>
        </p:txBody>
      </p:sp>
    </p:spTree>
    <p:extLst>
      <p:ext uri="{BB962C8B-B14F-4D97-AF65-F5344CB8AC3E}">
        <p14:creationId xmlns:p14="http://schemas.microsoft.com/office/powerpoint/2010/main" val="38905758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4BCEC3-63C8-4B89-BF34-B4E05A023BFE}" type="datetimeFigureOut">
              <a:rPr lang="en-IN" smtClean="0"/>
              <a:t>08-11-2025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A43D837-5CDC-49AE-BAD6-AF2409DD5106}" type="slidenum">
              <a:rPr lang="en-IN" smtClean="0"/>
              <a:t>‹#›</a:t>
            </a:fld>
            <a:endParaRPr lang="en-IN"/>
          </a:p>
        </p:txBody>
      </p:sp>
    </p:spTree>
    <p:extLst>
      <p:ext uri="{BB962C8B-B14F-4D97-AF65-F5344CB8AC3E}">
        <p14:creationId xmlns:p14="http://schemas.microsoft.com/office/powerpoint/2010/main" val="29788757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4BCEC3-63C8-4B89-BF34-B4E05A023BFE}" type="datetimeFigureOut">
              <a:rPr lang="en-IN" smtClean="0"/>
              <a:t>08-11-2025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A43D837-5CDC-49AE-BAD6-AF2409DD5106}" type="slidenum">
              <a:rPr lang="en-IN" smtClean="0"/>
              <a:t>‹#›</a:t>
            </a:fld>
            <a:endParaRPr lang="en-IN"/>
          </a:p>
        </p:txBody>
      </p:sp>
    </p:spTree>
    <p:extLst>
      <p:ext uri="{BB962C8B-B14F-4D97-AF65-F5344CB8AC3E}">
        <p14:creationId xmlns:p14="http://schemas.microsoft.com/office/powerpoint/2010/main" val="25173899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Content" type="obj">
  <p:cSld name="1_Title and Content">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extLst>
      <p:ext uri="{BB962C8B-B14F-4D97-AF65-F5344CB8AC3E}">
        <p14:creationId xmlns:p14="http://schemas.microsoft.com/office/powerpoint/2010/main" val="36625448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6B4BCEC3-63C8-4B89-BF34-B4E05A023BFE}" type="datetimeFigureOut">
              <a:rPr lang="en-IN" smtClean="0"/>
              <a:t>08-11-2025</a:t>
            </a:fld>
            <a:endParaRPr lang="en-IN"/>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IN"/>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CA43D837-5CDC-49AE-BAD6-AF2409DD5106}" type="slidenum">
              <a:rPr lang="en-IN" smtClean="0"/>
              <a:t>‹#›</a:t>
            </a:fld>
            <a:endParaRPr lang="en-IN"/>
          </a:p>
        </p:txBody>
      </p:sp>
    </p:spTree>
    <p:extLst>
      <p:ext uri="{BB962C8B-B14F-4D97-AF65-F5344CB8AC3E}">
        <p14:creationId xmlns:p14="http://schemas.microsoft.com/office/powerpoint/2010/main" val="15117958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 id="2147483714"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18.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jpeg"/></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3827" y="-15240"/>
            <a:ext cx="12272027" cy="6858000"/>
          </a:xfrm>
          <a:prstGeom prst="rect">
            <a:avLst/>
          </a:prstGeom>
          <a:noFill/>
          <a:ln>
            <a:noFill/>
          </a:ln>
        </p:spPr>
      </p:pic>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27108" y="3679002"/>
            <a:ext cx="5989907" cy="2456345"/>
          </a:xfrm>
          <a:prstGeom prst="rect">
            <a:avLst/>
          </a:prstGeom>
          <a:ln>
            <a:solidFill>
              <a:srgbClr val="FFFFFF"/>
            </a:solidFill>
          </a:ln>
          <a:effectLst>
            <a:outerShdw blurRad="50800" dist="50800" dir="5400000" algn="ctr" rotWithShape="0">
              <a:srgbClr val="F2F2F2"/>
            </a:outerShdw>
          </a:effectLst>
        </p:spPr>
      </p:pic>
      <p:sp>
        <p:nvSpPr>
          <p:cNvPr id="4" name="TextBox 3">
            <a:extLst>
              <a:ext uri="{FF2B5EF4-FFF2-40B4-BE49-F238E27FC236}">
                <a16:creationId xmlns:a16="http://schemas.microsoft.com/office/drawing/2014/main" id="{EBCC5244-CD1C-B957-E40D-E5D18679EF2B}"/>
              </a:ext>
            </a:extLst>
          </p:cNvPr>
          <p:cNvSpPr txBox="1"/>
          <p:nvPr/>
        </p:nvSpPr>
        <p:spPr>
          <a:xfrm>
            <a:off x="979053" y="6135347"/>
            <a:ext cx="10072656"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Title:</a:t>
            </a:r>
            <a:r>
              <a:rPr lang="en-US" sz="2400" dirty="0">
                <a:latin typeface="Times New Roman" panose="02020603050405020304" pitchFamily="18" charset="0"/>
                <a:cs typeface="Times New Roman" panose="02020603050405020304" pitchFamily="18" charset="0"/>
              </a:rPr>
              <a:t> Web Scraping and Exploratory Data Analysis of AIR CONDITIONER</a:t>
            </a:r>
          </a:p>
        </p:txBody>
      </p:sp>
    </p:spTree>
    <p:extLst>
      <p:ext uri="{BB962C8B-B14F-4D97-AF65-F5344CB8AC3E}">
        <p14:creationId xmlns:p14="http://schemas.microsoft.com/office/powerpoint/2010/main" val="13243268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8"/>
                                        </p:tgtEl>
                                        <p:attrNameLst>
                                          <p:attrName>style.visibility</p:attrName>
                                        </p:attrNameLst>
                                      </p:cBhvr>
                                      <p:to>
                                        <p:strVal val="visible"/>
                                      </p:to>
                                    </p:set>
                                    <p:animEffect transition="in" filter="fade">
                                      <p:cBhvr>
                                        <p:cTn id="7" dur="500"/>
                                        <p:tgtEl>
                                          <p:spTgt spid="9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200" y="478248"/>
            <a:ext cx="10515600" cy="954628"/>
          </a:xfrm>
        </p:spPr>
        <p:txBody>
          <a:bodyPr/>
          <a:lstStyle/>
          <a:p>
            <a:r>
              <a:rPr lang="en-US" b="1" dirty="0">
                <a:latin typeface="Times New Roman" panose="02020603050405020304" pitchFamily="18" charset="0"/>
                <a:cs typeface="Times New Roman" panose="02020603050405020304" pitchFamily="18" charset="0"/>
              </a:rPr>
              <a:t>About ME:</a:t>
            </a:r>
            <a:endParaRPr lang="en-IN" dirty="0"/>
          </a:p>
        </p:txBody>
      </p:sp>
      <p:sp>
        <p:nvSpPr>
          <p:cNvPr id="4" name="Text Placeholder 3"/>
          <p:cNvSpPr>
            <a:spLocks noGrp="1"/>
          </p:cNvSpPr>
          <p:nvPr>
            <p:ph type="body" idx="1"/>
          </p:nvPr>
        </p:nvSpPr>
        <p:spPr>
          <a:xfrm>
            <a:off x="838200" y="1319754"/>
            <a:ext cx="10515600" cy="4351338"/>
          </a:xfrm>
        </p:spPr>
        <p:txBody>
          <a:bodyPr>
            <a:normAutofit/>
          </a:bodyPr>
          <a:lstStyle/>
          <a:p>
            <a:pPr marL="342900" algn="just" eaLnBrk="0" fontAlgn="base" hangingPunct="0">
              <a:lnSpc>
                <a:spcPct val="150000"/>
              </a:lnSpc>
              <a:spcBef>
                <a:spcPct val="0"/>
              </a:spcBef>
              <a:spcAft>
                <a:spcPct val="0"/>
              </a:spcAft>
              <a:buClrTx/>
              <a:buSzTx/>
            </a:pPr>
            <a:r>
              <a:rPr lang="en-US" altLang="en-US" sz="2400" cap="none" dirty="0">
                <a:latin typeface="Times New Roman" panose="02020603050405020304" pitchFamily="18" charset="0"/>
                <a:cs typeface="Times New Roman" panose="02020603050405020304" pitchFamily="18" charset="0"/>
              </a:rPr>
              <a:t>I am Buddepu Vivek from Innomatics research labs, with strong interest in exploratory data analytics (EDA).</a:t>
            </a:r>
          </a:p>
          <a:p>
            <a:pPr marL="342900" algn="just" eaLnBrk="0" fontAlgn="base" hangingPunct="0">
              <a:lnSpc>
                <a:spcPct val="150000"/>
              </a:lnSpc>
              <a:spcBef>
                <a:spcPct val="0"/>
              </a:spcBef>
              <a:spcAft>
                <a:spcPct val="0"/>
              </a:spcAft>
              <a:buClrTx/>
              <a:buSzTx/>
            </a:pPr>
            <a:r>
              <a:rPr lang="en-US" altLang="en-US" sz="2400" cap="none" dirty="0">
                <a:latin typeface="Times New Roman" panose="02020603050405020304" pitchFamily="18" charset="0"/>
                <a:cs typeface="Times New Roman" panose="02020603050405020304" pitchFamily="18" charset="0"/>
              </a:rPr>
              <a:t>Skilled in data collection, cleaning, and visualization using python and analytical tools.</a:t>
            </a:r>
          </a:p>
          <a:p>
            <a:pPr marL="342900" algn="just" eaLnBrk="0" fontAlgn="base" hangingPunct="0">
              <a:lnSpc>
                <a:spcPct val="150000"/>
              </a:lnSpc>
              <a:spcBef>
                <a:spcPct val="0"/>
              </a:spcBef>
              <a:spcAft>
                <a:spcPct val="0"/>
              </a:spcAft>
              <a:buClrTx/>
              <a:buSzTx/>
            </a:pPr>
            <a:r>
              <a:rPr lang="en-US" altLang="en-US" sz="2400" cap="none" dirty="0">
                <a:latin typeface="Times New Roman" panose="02020603050405020304" pitchFamily="18" charset="0"/>
                <a:cs typeface="Times New Roman" panose="02020603050405020304" pitchFamily="18" charset="0"/>
              </a:rPr>
              <a:t>Exploring data-driven insights through real-world datasets.</a:t>
            </a:r>
          </a:p>
          <a:p>
            <a:pPr marL="342900" algn="just" eaLnBrk="0" fontAlgn="base" hangingPunct="0">
              <a:lnSpc>
                <a:spcPct val="150000"/>
              </a:lnSpc>
              <a:spcBef>
                <a:spcPct val="0"/>
              </a:spcBef>
              <a:spcAft>
                <a:spcPct val="0"/>
              </a:spcAft>
              <a:buClrTx/>
              <a:buSzTx/>
            </a:pPr>
            <a:r>
              <a:rPr lang="en-US" altLang="en-US" sz="2400" cap="none" dirty="0">
                <a:latin typeface="Times New Roman" panose="02020603050405020304" pitchFamily="18" charset="0"/>
                <a:cs typeface="Times New Roman" panose="02020603050405020304" pitchFamily="18" charset="0"/>
              </a:rPr>
              <a:t>Interested in applying EDA techniques to understand business trends and improve data driven decisions.</a:t>
            </a:r>
          </a:p>
          <a:p>
            <a:pPr marL="0" indent="0" algn="just" eaLnBrk="0" fontAlgn="base" hangingPunct="0">
              <a:lnSpc>
                <a:spcPct val="150000"/>
              </a:lnSpc>
              <a:spcBef>
                <a:spcPct val="0"/>
              </a:spcBef>
              <a:spcAft>
                <a:spcPct val="0"/>
              </a:spcAft>
              <a:buClrTx/>
              <a:buSzTx/>
              <a:buNone/>
            </a:pPr>
            <a:endParaRPr lang="en-US" altLang="en-US" sz="2400" cap="none" dirty="0">
              <a:latin typeface="Times New Roman" panose="02020603050405020304" pitchFamily="18" charset="0"/>
              <a:cs typeface="Times New Roman" panose="02020603050405020304" pitchFamily="18" charset="0"/>
            </a:endParaRPr>
          </a:p>
          <a:p>
            <a:pPr marL="114300" indent="0" algn="just">
              <a:lnSpc>
                <a:spcPct val="150000"/>
              </a:lnSpc>
              <a:buNone/>
            </a:pPr>
            <a:endParaRPr lang="en-US" sz="2400" cap="none" dirty="0"/>
          </a:p>
          <a:p>
            <a:pPr marL="571500" lvl="1" indent="0">
              <a:buNone/>
            </a:pPr>
            <a:endParaRPr lang="en-IN" sz="2400" cap="none" dirty="0"/>
          </a:p>
        </p:txBody>
      </p:sp>
    </p:spTree>
    <p:extLst>
      <p:ext uri="{BB962C8B-B14F-4D97-AF65-F5344CB8AC3E}">
        <p14:creationId xmlns:p14="http://schemas.microsoft.com/office/powerpoint/2010/main" val="35692221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D5E8E-6849-AC7C-6AB8-8B2CA1F3F652}"/>
              </a:ext>
            </a:extLst>
          </p:cNvPr>
          <p:cNvSpPr>
            <a:spLocks noGrp="1"/>
          </p:cNvSpPr>
          <p:nvPr>
            <p:ph type="title"/>
          </p:nvPr>
        </p:nvSpPr>
        <p:spPr>
          <a:xfrm>
            <a:off x="838200" y="383979"/>
            <a:ext cx="10515600" cy="1325563"/>
          </a:xfrm>
        </p:spPr>
        <p:txBody>
          <a:bodyPr>
            <a:normAutofit/>
          </a:bodyPr>
          <a:lstStyle/>
          <a:p>
            <a:r>
              <a:rPr lang="en-IN" b="1" dirty="0">
                <a:latin typeface="Times New Roman" panose="02020603050405020304" pitchFamily="18" charset="0"/>
                <a:cs typeface="Times New Roman" panose="02020603050405020304" pitchFamily="18" charset="0"/>
              </a:rPr>
              <a:t>Introduction:</a:t>
            </a:r>
            <a:endParaRPr lang="en-IN"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838200" y="1241508"/>
            <a:ext cx="10515600" cy="4742444"/>
          </a:xfrm>
        </p:spPr>
        <p:txBody>
          <a:bodyPr>
            <a:normAutofit/>
          </a:bodyPr>
          <a:lstStyle/>
          <a:p>
            <a:pPr algn="just"/>
            <a:r>
              <a:rPr lang="en-GB" sz="2400" b="1" cap="none" dirty="0">
                <a:latin typeface="Times New Roman" panose="02020603050405020304" pitchFamily="18" charset="0"/>
                <a:cs typeface="Times New Roman" panose="02020603050405020304" pitchFamily="18" charset="0"/>
              </a:rPr>
              <a:t>Flipkart</a:t>
            </a:r>
            <a:r>
              <a:rPr lang="en-GB" sz="2400" cap="none" dirty="0">
                <a:latin typeface="Times New Roman" panose="02020603050405020304" pitchFamily="18" charset="0"/>
                <a:cs typeface="Times New Roman" panose="02020603050405020304" pitchFamily="18" charset="0"/>
              </a:rPr>
              <a:t> is one of India's leading </a:t>
            </a:r>
            <a:r>
              <a:rPr lang="en-GB" sz="2400" b="1" cap="none" dirty="0">
                <a:latin typeface="Times New Roman" panose="02020603050405020304" pitchFamily="18" charset="0"/>
                <a:cs typeface="Times New Roman" panose="02020603050405020304" pitchFamily="18" charset="0"/>
              </a:rPr>
              <a:t>e-commerce platforms</a:t>
            </a:r>
            <a:r>
              <a:rPr lang="en-GB" sz="2400" cap="none" dirty="0">
                <a:latin typeface="Times New Roman" panose="02020603050405020304" pitchFamily="18" charset="0"/>
                <a:cs typeface="Times New Roman" panose="02020603050405020304" pitchFamily="18" charset="0"/>
              </a:rPr>
              <a:t>, founded in </a:t>
            </a:r>
            <a:r>
              <a:rPr lang="en-GB" sz="2400" b="1" cap="none" dirty="0">
                <a:latin typeface="Times New Roman" panose="02020603050405020304" pitchFamily="18" charset="0"/>
                <a:cs typeface="Times New Roman" panose="02020603050405020304" pitchFamily="18" charset="0"/>
              </a:rPr>
              <a:t>2007</a:t>
            </a:r>
            <a:r>
              <a:rPr lang="en-GB" sz="2400" cap="none" dirty="0">
                <a:latin typeface="Times New Roman" panose="02020603050405020304" pitchFamily="18" charset="0"/>
                <a:cs typeface="Times New Roman" panose="02020603050405020304" pitchFamily="18" charset="0"/>
              </a:rPr>
              <a:t> by </a:t>
            </a:r>
            <a:r>
              <a:rPr lang="en-GB" sz="2400" b="1" cap="none" dirty="0">
                <a:latin typeface="Times New Roman" panose="02020603050405020304" pitchFamily="18" charset="0"/>
                <a:cs typeface="Times New Roman" panose="02020603050405020304" pitchFamily="18" charset="0"/>
              </a:rPr>
              <a:t>sachin bansal</a:t>
            </a:r>
            <a:r>
              <a:rPr lang="en-GB" sz="2400" cap="none" dirty="0">
                <a:latin typeface="Times New Roman" panose="02020603050405020304" pitchFamily="18" charset="0"/>
                <a:cs typeface="Times New Roman" panose="02020603050405020304" pitchFamily="18" charset="0"/>
              </a:rPr>
              <a:t> and </a:t>
            </a:r>
            <a:r>
              <a:rPr lang="en-GB" sz="2400" b="1" cap="none" dirty="0">
                <a:latin typeface="Times New Roman" panose="02020603050405020304" pitchFamily="18" charset="0"/>
                <a:cs typeface="Times New Roman" panose="02020603050405020304" pitchFamily="18" charset="0"/>
              </a:rPr>
              <a:t>binny bansal</a:t>
            </a:r>
            <a:r>
              <a:rPr lang="en-GB" sz="2400" cap="none" dirty="0">
                <a:latin typeface="Times New Roman" panose="02020603050405020304" pitchFamily="18" charset="0"/>
                <a:cs typeface="Times New Roman" panose="02020603050405020304" pitchFamily="18" charset="0"/>
              </a:rPr>
              <a:t>.</a:t>
            </a:r>
          </a:p>
          <a:p>
            <a:pPr algn="just"/>
            <a:r>
              <a:rPr lang="en-GB" sz="2400" cap="none" dirty="0">
                <a:latin typeface="Times New Roman" panose="02020603050405020304" pitchFamily="18" charset="0"/>
                <a:cs typeface="Times New Roman" panose="02020603050405020304" pitchFamily="18" charset="0"/>
              </a:rPr>
              <a:t>It started as an </a:t>
            </a:r>
            <a:r>
              <a:rPr lang="en-GB" sz="2400" b="1" cap="none" dirty="0">
                <a:latin typeface="Times New Roman" panose="02020603050405020304" pitchFamily="18" charset="0"/>
                <a:cs typeface="Times New Roman" panose="02020603050405020304" pitchFamily="18" charset="0"/>
              </a:rPr>
              <a:t>online bookstore</a:t>
            </a:r>
            <a:r>
              <a:rPr lang="en-GB" sz="2400" cap="none" dirty="0">
                <a:latin typeface="Times New Roman" panose="02020603050405020304" pitchFamily="18" charset="0"/>
                <a:cs typeface="Times New Roman" panose="02020603050405020304" pitchFamily="18" charset="0"/>
              </a:rPr>
              <a:t> and later expanded into various categories like </a:t>
            </a:r>
            <a:r>
              <a:rPr lang="en-GB" sz="2400" b="1" cap="none" dirty="0">
                <a:latin typeface="Times New Roman" panose="02020603050405020304" pitchFamily="18" charset="0"/>
                <a:cs typeface="Times New Roman" panose="02020603050405020304" pitchFamily="18" charset="0"/>
              </a:rPr>
              <a:t>electronics, fashion, and home appliances</a:t>
            </a:r>
            <a:r>
              <a:rPr lang="en-GB" sz="2400" cap="none" dirty="0">
                <a:latin typeface="Times New Roman" panose="02020603050405020304" pitchFamily="18" charset="0"/>
                <a:cs typeface="Times New Roman" panose="02020603050405020304" pitchFamily="18" charset="0"/>
              </a:rPr>
              <a:t>.</a:t>
            </a:r>
          </a:p>
          <a:p>
            <a:pPr algn="just"/>
            <a:r>
              <a:rPr lang="en-GB" sz="2400" cap="none" dirty="0">
                <a:latin typeface="Times New Roman" panose="02020603050405020304" pitchFamily="18" charset="0"/>
                <a:cs typeface="Times New Roman" panose="02020603050405020304" pitchFamily="18" charset="0"/>
              </a:rPr>
              <a:t>Among home appliances, </a:t>
            </a:r>
            <a:r>
              <a:rPr lang="en-GB" sz="2400" b="1" cap="none" dirty="0">
                <a:latin typeface="Times New Roman" panose="02020603050405020304" pitchFamily="18" charset="0"/>
                <a:cs typeface="Times New Roman" panose="02020603050405020304" pitchFamily="18" charset="0"/>
              </a:rPr>
              <a:t>air conditioners (Ac’s)</a:t>
            </a:r>
            <a:r>
              <a:rPr lang="en-GB" sz="2400" cap="none" dirty="0">
                <a:latin typeface="Times New Roman" panose="02020603050405020304" pitchFamily="18" charset="0"/>
                <a:cs typeface="Times New Roman" panose="02020603050405020304" pitchFamily="18" charset="0"/>
              </a:rPr>
              <a:t> are one of the major product categories on flipkart.</a:t>
            </a:r>
          </a:p>
          <a:p>
            <a:pPr algn="just"/>
            <a:r>
              <a:rPr lang="en-GB" sz="2400" cap="none" dirty="0">
                <a:latin typeface="Times New Roman" panose="02020603050405020304" pitchFamily="18" charset="0"/>
                <a:cs typeface="Times New Roman" panose="02020603050405020304" pitchFamily="18" charset="0"/>
              </a:rPr>
              <a:t>Flipkart offers a wide range of Ac’s from top brands such as </a:t>
            </a:r>
            <a:r>
              <a:rPr lang="en-GB" sz="2400" cap="none" dirty="0" err="1">
                <a:latin typeface="Times New Roman" panose="02020603050405020304" pitchFamily="18" charset="0"/>
                <a:cs typeface="Times New Roman" panose="02020603050405020304" pitchFamily="18" charset="0"/>
              </a:rPr>
              <a:t>lg</a:t>
            </a:r>
            <a:r>
              <a:rPr lang="en-GB" sz="2400" cap="none" dirty="0">
                <a:latin typeface="Times New Roman" panose="02020603050405020304" pitchFamily="18" charset="0"/>
                <a:cs typeface="Times New Roman" panose="02020603050405020304" pitchFamily="18" charset="0"/>
              </a:rPr>
              <a:t>, </a:t>
            </a:r>
            <a:r>
              <a:rPr lang="en-GB" sz="2400" cap="none" dirty="0" err="1">
                <a:latin typeface="Times New Roman" panose="02020603050405020304" pitchFamily="18" charset="0"/>
                <a:cs typeface="Times New Roman" panose="02020603050405020304" pitchFamily="18" charset="0"/>
              </a:rPr>
              <a:t>samsung</a:t>
            </a:r>
            <a:r>
              <a:rPr lang="en-GB" sz="2400" cap="none" dirty="0">
                <a:latin typeface="Times New Roman" panose="02020603050405020304" pitchFamily="18" charset="0"/>
                <a:cs typeface="Times New Roman" panose="02020603050405020304" pitchFamily="18" charset="0"/>
              </a:rPr>
              <a:t>, </a:t>
            </a:r>
            <a:r>
              <a:rPr lang="en-GB" sz="2400" cap="none" dirty="0" err="1">
                <a:latin typeface="Times New Roman" panose="02020603050405020304" pitchFamily="18" charset="0"/>
                <a:cs typeface="Times New Roman" panose="02020603050405020304" pitchFamily="18" charset="0"/>
              </a:rPr>
              <a:t>voltas</a:t>
            </a:r>
            <a:r>
              <a:rPr lang="en-GB" sz="2400" cap="none" dirty="0">
                <a:latin typeface="Times New Roman" panose="02020603050405020304" pitchFamily="18" charset="0"/>
                <a:cs typeface="Times New Roman" panose="02020603050405020304" pitchFamily="18" charset="0"/>
              </a:rPr>
              <a:t>, </a:t>
            </a:r>
            <a:r>
              <a:rPr lang="en-GB" sz="2400" cap="none" dirty="0" err="1">
                <a:latin typeface="Times New Roman" panose="02020603050405020304" pitchFamily="18" charset="0"/>
                <a:cs typeface="Times New Roman" panose="02020603050405020304" pitchFamily="18" charset="0"/>
              </a:rPr>
              <a:t>daikin</a:t>
            </a:r>
            <a:r>
              <a:rPr lang="en-GB" sz="2400" cap="none" dirty="0">
                <a:latin typeface="Times New Roman" panose="02020603050405020304" pitchFamily="18" charset="0"/>
                <a:cs typeface="Times New Roman" panose="02020603050405020304" pitchFamily="18" charset="0"/>
              </a:rPr>
              <a:t>, and whirlpool, catering to different price ranges and features.</a:t>
            </a:r>
          </a:p>
          <a:p>
            <a:pPr algn="just"/>
            <a:r>
              <a:rPr lang="en-GB" sz="2400" cap="none" dirty="0">
                <a:latin typeface="Times New Roman" panose="02020603050405020304" pitchFamily="18" charset="0"/>
                <a:cs typeface="Times New Roman" panose="02020603050405020304" pitchFamily="18" charset="0"/>
              </a:rPr>
              <a:t>The platform provides detailed product descriptions, specifications, ratings, and customer reviews to help users make informed choices.</a:t>
            </a:r>
            <a:endParaRPr lang="en-IN" sz="2400"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65705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200" y="402832"/>
            <a:ext cx="10515600" cy="1325563"/>
          </a:xfrm>
        </p:spPr>
        <p:txBody>
          <a:bodyPr/>
          <a:lstStyle/>
          <a:p>
            <a:r>
              <a:rPr lang="en-IN" b="1" dirty="0">
                <a:latin typeface="Times New Roman" panose="02020603050405020304" pitchFamily="18" charset="0"/>
                <a:cs typeface="Times New Roman" panose="02020603050405020304" pitchFamily="18" charset="0"/>
              </a:rPr>
              <a:t>Business Problem:</a:t>
            </a:r>
            <a:endParaRPr lang="en-IN" dirty="0"/>
          </a:p>
        </p:txBody>
      </p:sp>
      <p:sp>
        <p:nvSpPr>
          <p:cNvPr id="4" name="Text Placeholder 3"/>
          <p:cNvSpPr>
            <a:spLocks noGrp="1"/>
          </p:cNvSpPr>
          <p:nvPr>
            <p:ph type="body" idx="1"/>
          </p:nvPr>
        </p:nvSpPr>
        <p:spPr>
          <a:xfrm>
            <a:off x="838200" y="1278869"/>
            <a:ext cx="10515600" cy="4351338"/>
          </a:xfrm>
        </p:spPr>
        <p:txBody>
          <a:bodyPr>
            <a:normAutofit/>
          </a:bodyPr>
          <a:lstStyle/>
          <a:p>
            <a:pPr marL="285750" indent="-285750" algn="just"/>
            <a:r>
              <a:rPr lang="en-GB" sz="2400" cap="none" dirty="0">
                <a:latin typeface="Times New Roman" panose="02020603050405020304" pitchFamily="18" charset="0"/>
                <a:cs typeface="Times New Roman" panose="02020603050405020304" pitchFamily="18" charset="0"/>
              </a:rPr>
              <a:t>AC product data and customer feedback on flipkart are scattered across different sources and formats.</a:t>
            </a:r>
          </a:p>
          <a:p>
            <a:pPr marL="285750" indent="-285750" algn="just"/>
            <a:r>
              <a:rPr lang="en-GB" sz="2400" cap="none" dirty="0">
                <a:latin typeface="Times New Roman" panose="02020603050405020304" pitchFamily="18" charset="0"/>
                <a:cs typeface="Times New Roman" panose="02020603050405020304" pitchFamily="18" charset="0"/>
              </a:rPr>
              <a:t>The business team faces challenges in analysing sales trends, comparing brand performance, and understanding customer preferences.</a:t>
            </a:r>
          </a:p>
          <a:p>
            <a:pPr marL="285750" indent="-285750" algn="just"/>
            <a:r>
              <a:rPr lang="en-GB" sz="2400" cap="none" dirty="0">
                <a:latin typeface="Times New Roman" panose="02020603050405020304" pitchFamily="18" charset="0"/>
                <a:cs typeface="Times New Roman" panose="02020603050405020304" pitchFamily="18" charset="0"/>
              </a:rPr>
              <a:t>Customers often struggle to find the right ac based on usage needs, room size, or energy efficiency ratings.</a:t>
            </a:r>
          </a:p>
          <a:p>
            <a:pPr marL="285750" indent="-285750" algn="just"/>
            <a:r>
              <a:rPr lang="en-GB" sz="2400" cap="none" dirty="0">
                <a:latin typeface="Times New Roman" panose="02020603050405020304" pitchFamily="18" charset="0"/>
                <a:cs typeface="Times New Roman" panose="02020603050405020304" pitchFamily="18" charset="0"/>
              </a:rPr>
              <a:t>There is a need for a unified analytics system that can combine sales, reviews, and performance data to help flipkart improve recommendations, optimize inventory, and support better business decisions.</a:t>
            </a:r>
            <a:endParaRPr lang="en-US" sz="2400" cap="none" dirty="0">
              <a:latin typeface="Times New Roman" panose="02020603050405020304" pitchFamily="18" charset="0"/>
              <a:cs typeface="Times New Roman" panose="02020603050405020304" pitchFamily="18" charset="0"/>
            </a:endParaRPr>
          </a:p>
          <a:p>
            <a:endParaRPr lang="en-IN" sz="2400" cap="none" dirty="0"/>
          </a:p>
        </p:txBody>
      </p:sp>
    </p:spTree>
    <p:extLst>
      <p:ext uri="{BB962C8B-B14F-4D97-AF65-F5344CB8AC3E}">
        <p14:creationId xmlns:p14="http://schemas.microsoft.com/office/powerpoint/2010/main" val="19889572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D5E8E-6849-AC7C-6AB8-8B2CA1F3F652}"/>
              </a:ext>
            </a:extLst>
          </p:cNvPr>
          <p:cNvSpPr>
            <a:spLocks noGrp="1"/>
          </p:cNvSpPr>
          <p:nvPr>
            <p:ph type="title"/>
          </p:nvPr>
        </p:nvSpPr>
        <p:spPr>
          <a:xfrm>
            <a:off x="838200" y="374552"/>
            <a:ext cx="10515600" cy="1325563"/>
          </a:xfrm>
        </p:spPr>
        <p:txBody>
          <a:bodyPr>
            <a:normAutofit/>
          </a:bodyPr>
          <a:lstStyle/>
          <a:p>
            <a:r>
              <a:rPr lang="en-IN" b="1" dirty="0">
                <a:latin typeface="Times New Roman" panose="02020603050405020304" pitchFamily="18" charset="0"/>
                <a:cs typeface="Times New Roman" panose="02020603050405020304" pitchFamily="18" charset="0"/>
              </a:rPr>
              <a:t>Objectives:</a:t>
            </a:r>
            <a:endParaRPr lang="en-IN"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838200" y="1319753"/>
            <a:ext cx="10515600" cy="3937062"/>
          </a:xfrm>
        </p:spPr>
        <p:txBody>
          <a:bodyPr>
            <a:normAutofit/>
          </a:bodyPr>
          <a:lstStyle/>
          <a:p>
            <a:pPr algn="just"/>
            <a:r>
              <a:rPr lang="en-GB" sz="2400" cap="none" dirty="0">
                <a:latin typeface="Times New Roman" panose="02020603050405020304" pitchFamily="18" charset="0"/>
                <a:cs typeface="Times New Roman" panose="02020603050405020304" pitchFamily="18" charset="0"/>
              </a:rPr>
              <a:t>This project focuses on performing exploratory data analysis (EDA) on flipkart air conditioner products.</a:t>
            </a:r>
          </a:p>
          <a:p>
            <a:pPr algn="just"/>
            <a:r>
              <a:rPr lang="en-GB" sz="2400" cap="none" dirty="0">
                <a:latin typeface="Times New Roman" panose="02020603050405020304" pitchFamily="18" charset="0"/>
                <a:cs typeface="Times New Roman" panose="02020603050405020304" pitchFamily="18" charset="0"/>
              </a:rPr>
              <a:t>Data was scraped directly from flipkart using web scraping techniques to collect product details such as brand, price, ratings, and specifications.</a:t>
            </a:r>
          </a:p>
          <a:p>
            <a:pPr algn="just"/>
            <a:r>
              <a:rPr lang="en-GB" sz="2400" cap="none" dirty="0">
                <a:latin typeface="Times New Roman" panose="02020603050405020304" pitchFamily="18" charset="0"/>
                <a:cs typeface="Times New Roman" panose="02020603050405020304" pitchFamily="18" charset="0"/>
              </a:rPr>
              <a:t>After data collection, we performed data cleaning, analysis, and visualization using python libraries like pandas, </a:t>
            </a:r>
            <a:r>
              <a:rPr lang="en-GB" sz="2400" cap="none" dirty="0" err="1">
                <a:latin typeface="Times New Roman" panose="02020603050405020304" pitchFamily="18" charset="0"/>
                <a:cs typeface="Times New Roman" panose="02020603050405020304" pitchFamily="18" charset="0"/>
              </a:rPr>
              <a:t>numpy</a:t>
            </a:r>
            <a:r>
              <a:rPr lang="en-GB" sz="2400" cap="none" dirty="0">
                <a:latin typeface="Times New Roman" panose="02020603050405020304" pitchFamily="18" charset="0"/>
                <a:cs typeface="Times New Roman" panose="02020603050405020304" pitchFamily="18" charset="0"/>
              </a:rPr>
              <a:t>, </a:t>
            </a:r>
            <a:r>
              <a:rPr lang="en-GB" sz="2400" cap="none" dirty="0" err="1">
                <a:latin typeface="Times New Roman" panose="02020603050405020304" pitchFamily="18" charset="0"/>
                <a:cs typeface="Times New Roman" panose="02020603050405020304" pitchFamily="18" charset="0"/>
              </a:rPr>
              <a:t>matplotlib</a:t>
            </a:r>
            <a:r>
              <a:rPr lang="en-GB" sz="2400" cap="none" dirty="0">
                <a:latin typeface="Times New Roman" panose="02020603050405020304" pitchFamily="18" charset="0"/>
                <a:cs typeface="Times New Roman" panose="02020603050405020304" pitchFamily="18" charset="0"/>
              </a:rPr>
              <a:t>, and </a:t>
            </a:r>
            <a:r>
              <a:rPr lang="en-GB" sz="2400" cap="none" dirty="0" err="1">
                <a:latin typeface="Times New Roman" panose="02020603050405020304" pitchFamily="18" charset="0"/>
                <a:cs typeface="Times New Roman" panose="02020603050405020304" pitchFamily="18" charset="0"/>
              </a:rPr>
              <a:t>seaborn</a:t>
            </a:r>
            <a:r>
              <a:rPr lang="en-GB" sz="2400" cap="none" dirty="0">
                <a:latin typeface="Times New Roman" panose="02020603050405020304" pitchFamily="18" charset="0"/>
                <a:cs typeface="Times New Roman" panose="02020603050405020304" pitchFamily="18" charset="0"/>
              </a:rPr>
              <a:t>.</a:t>
            </a:r>
          </a:p>
          <a:p>
            <a:pPr algn="just"/>
            <a:r>
              <a:rPr lang="en-GB" sz="2400" cap="none" dirty="0">
                <a:latin typeface="Times New Roman" panose="02020603050405020304" pitchFamily="18" charset="0"/>
                <a:cs typeface="Times New Roman" panose="02020603050405020304" pitchFamily="18" charset="0"/>
              </a:rPr>
              <a:t>The goal of this project is to identify pricing patterns, brand performance, and customer preferences based on flipkart product data.</a:t>
            </a:r>
          </a:p>
          <a:p>
            <a:pPr algn="just"/>
            <a:r>
              <a:rPr lang="en-GB" sz="2400" cap="none" dirty="0">
                <a:latin typeface="Times New Roman" panose="02020603050405020304" pitchFamily="18" charset="0"/>
                <a:cs typeface="Times New Roman" panose="02020603050405020304" pitchFamily="18" charset="0"/>
              </a:rPr>
              <a:t>To improve the sales of air conditioners on flipkart.</a:t>
            </a:r>
            <a:endParaRPr lang="en-US" sz="2400"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09280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D5E8E-6849-AC7C-6AB8-8B2CA1F3F652}"/>
              </a:ext>
            </a:extLst>
          </p:cNvPr>
          <p:cNvSpPr>
            <a:spLocks noGrp="1"/>
          </p:cNvSpPr>
          <p:nvPr>
            <p:ph type="title"/>
          </p:nvPr>
        </p:nvSpPr>
        <p:spPr>
          <a:xfrm>
            <a:off x="753359" y="110602"/>
            <a:ext cx="5986806" cy="1325563"/>
          </a:xfrm>
        </p:spPr>
        <p:txBody>
          <a:bodyPr>
            <a:normAutofit/>
          </a:bodyPr>
          <a:lstStyle/>
          <a:p>
            <a:r>
              <a:rPr lang="en-IN" sz="3600" b="1" dirty="0">
                <a:latin typeface="Times New Roman" panose="02020603050405020304" pitchFamily="18" charset="0"/>
                <a:cs typeface="Times New Roman" panose="02020603050405020304" pitchFamily="18" charset="0"/>
              </a:rPr>
              <a:t>Web Scraping</a:t>
            </a:r>
            <a:endParaRPr lang="en-IN" sz="3600" dirty="0">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09847" y="0"/>
            <a:ext cx="5282153" cy="6240544"/>
          </a:xfrm>
          <a:prstGeom prst="rect">
            <a:avLst/>
          </a:prstGeom>
        </p:spPr>
      </p:pic>
      <p:sp>
        <p:nvSpPr>
          <p:cNvPr id="10" name="Rectangle 9"/>
          <p:cNvSpPr/>
          <p:nvPr/>
        </p:nvSpPr>
        <p:spPr>
          <a:xfrm>
            <a:off x="753359" y="1260369"/>
            <a:ext cx="5986806" cy="5262979"/>
          </a:xfrm>
          <a:prstGeom prst="rect">
            <a:avLst/>
          </a:prstGeom>
        </p:spPr>
        <p:txBody>
          <a:bodyPr wrap="square">
            <a:spAutoFit/>
          </a:bodyPr>
          <a:lstStyle/>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We have selected flipkart website as the main source for data collection. </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Used browser developer tools (Inspect Element) to locate and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HTML tags containing product details such as names, prices, and ratings on Flipkart’s AC listings.</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Used requests and </a:t>
            </a:r>
            <a:r>
              <a:rPr lang="en-IN" sz="2400" dirty="0" err="1">
                <a:latin typeface="Times New Roman" panose="02020603050405020304" pitchFamily="18" charset="0"/>
                <a:cs typeface="Times New Roman" panose="02020603050405020304" pitchFamily="18" charset="0"/>
              </a:rPr>
              <a:t>BeautifulSoup</a:t>
            </a:r>
            <a:r>
              <a:rPr lang="en-IN" sz="2400" dirty="0">
                <a:latin typeface="Times New Roman" panose="02020603050405020304" pitchFamily="18" charset="0"/>
                <a:cs typeface="Times New Roman" panose="02020603050405020304" pitchFamily="18" charset="0"/>
              </a:rPr>
              <a:t> libraries in python to unstructured data from web pages</a:t>
            </a:r>
          </a:p>
          <a:p>
            <a:pPr marL="342900" indent="-342900" algn="just">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Using python automated the process for multiple pages</a:t>
            </a:r>
          </a:p>
          <a:p>
            <a:pPr marL="342900" indent="-342900" algn="just">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Used Pandas to clean and organize the scraped data, enabling clear visualization and analysis of pricing and brand performance trends.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4441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1C52877-0C48-5832-A3A6-F82C9EE642F6}"/>
              </a:ext>
            </a:extLst>
          </p:cNvPr>
          <p:cNvSpPr txBox="1">
            <a:spLocks/>
          </p:cNvSpPr>
          <p:nvPr/>
        </p:nvSpPr>
        <p:spPr>
          <a:xfrm>
            <a:off x="1112124" y="558031"/>
            <a:ext cx="3940643" cy="823861"/>
          </a:xfrm>
          <a:prstGeom prst="rect">
            <a:avLst/>
          </a:prstGeom>
          <a:noFill/>
          <a:ln>
            <a:noFill/>
          </a:ln>
        </p:spPr>
        <p:txBody>
          <a:bodyPr spcFirstLastPara="1" vert="horz" wrap="square" lIns="91425" tIns="45700" rIns="91425" bIns="45700" rtlCol="0" anchor="ctr" anchorCtr="0">
            <a:normAutofit/>
          </a:bodyPr>
          <a:lstStyle>
            <a:lvl1pPr lvl="0" algn="l" defTabSz="914400" rtl="0" eaLnBrk="1" latinLnBrk="0" hangingPunct="1">
              <a:lnSpc>
                <a:spcPct val="90000"/>
              </a:lnSpc>
              <a:spcBef>
                <a:spcPts val="0"/>
              </a:spcBef>
              <a:spcAft>
                <a:spcPts val="0"/>
              </a:spcAft>
              <a:buClr>
                <a:schemeClr val="dk1"/>
              </a:buClr>
              <a:buSzPts val="1800"/>
              <a:buNone/>
              <a:defRPr sz="3600" kern="1200" cap="all" baseline="0">
                <a:solidFill>
                  <a:schemeClr val="tx1"/>
                </a:solidFill>
                <a:effectLst/>
                <a:latin typeface="+mj-lt"/>
                <a:ea typeface="+mj-ea"/>
                <a:cs typeface="+mj-c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lgn="ctr"/>
            <a:r>
              <a:rPr lang="en-IN" b="1" dirty="0">
                <a:latin typeface="Times New Roman" panose="02020603050405020304" pitchFamily="18" charset="0"/>
                <a:cs typeface="Times New Roman" panose="02020603050405020304" pitchFamily="18" charset="0"/>
              </a:rPr>
              <a:t>Tools Used:</a:t>
            </a:r>
          </a:p>
        </p:txBody>
      </p:sp>
      <p:pic>
        <p:nvPicPr>
          <p:cNvPr id="4" name="Picture 4">
            <a:extLst>
              <a:ext uri="{FF2B5EF4-FFF2-40B4-BE49-F238E27FC236}">
                <a16:creationId xmlns:a16="http://schemas.microsoft.com/office/drawing/2014/main" id="{7091940F-394A-C4D9-49A9-28A0D53A39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44326" y="1517596"/>
            <a:ext cx="3930769" cy="136207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a:extLst>
              <a:ext uri="{FF2B5EF4-FFF2-40B4-BE49-F238E27FC236}">
                <a16:creationId xmlns:a16="http://schemas.microsoft.com/office/drawing/2014/main" id="{D143134B-5DDE-9DA9-C904-C2C12CE774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7014" y="4568005"/>
            <a:ext cx="3190875" cy="142875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0" descr="RegEx - Transformation Services | openHAB">
            <a:extLst>
              <a:ext uri="{FF2B5EF4-FFF2-40B4-BE49-F238E27FC236}">
                <a16:creationId xmlns:a16="http://schemas.microsoft.com/office/drawing/2014/main" id="{EC2EC784-CEE9-A58C-1939-2AA806F636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09775" y="3109858"/>
            <a:ext cx="4019550" cy="113347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12" descr="Beautiful Soup 4 | Funthon">
            <a:extLst>
              <a:ext uri="{FF2B5EF4-FFF2-40B4-BE49-F238E27FC236}">
                <a16:creationId xmlns:a16="http://schemas.microsoft.com/office/drawing/2014/main" id="{81ABF712-4AED-CDA3-4D98-A52C78496C5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55777" y="1381892"/>
            <a:ext cx="3267075" cy="140017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4" descr="Citing and logo — seaborn 0.13.2 ...">
            <a:extLst>
              <a:ext uri="{FF2B5EF4-FFF2-40B4-BE49-F238E27FC236}">
                <a16:creationId xmlns:a16="http://schemas.microsoft.com/office/drawing/2014/main" id="{7EC87C6C-8C0E-53D2-B133-B39020CFBBF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74595" y="4710880"/>
            <a:ext cx="4000500" cy="11430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Matplotlib Logo &amp; Brand Assets (SVG ...">
            <a:extLst>
              <a:ext uri="{FF2B5EF4-FFF2-40B4-BE49-F238E27FC236}">
                <a16:creationId xmlns:a16="http://schemas.microsoft.com/office/drawing/2014/main" id="{65CBCFCE-FD98-D992-1C08-65F5EFEB614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91926" y="3109858"/>
            <a:ext cx="3705225" cy="1228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1025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arn(inVertical)">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arn(inVertical)">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barn(inVertical)">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barn(inVertical)">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D5E8E-6849-AC7C-6AB8-8B2CA1F3F652}"/>
              </a:ext>
            </a:extLst>
          </p:cNvPr>
          <p:cNvSpPr>
            <a:spLocks noGrp="1"/>
          </p:cNvSpPr>
          <p:nvPr>
            <p:ph type="title"/>
          </p:nvPr>
        </p:nvSpPr>
        <p:spPr>
          <a:xfrm>
            <a:off x="838200" y="223724"/>
            <a:ext cx="10515600" cy="634116"/>
          </a:xfrm>
        </p:spPr>
        <p:txBody>
          <a:bodyPr>
            <a:normAutofit/>
          </a:bodyPr>
          <a:lstStyle/>
          <a:p>
            <a:r>
              <a:rPr lang="en-IN" b="1" dirty="0">
                <a:latin typeface="Times New Roman" panose="02020603050405020304" pitchFamily="18" charset="0"/>
                <a:cs typeface="Times New Roman" panose="02020603050405020304" pitchFamily="18" charset="0"/>
              </a:rPr>
              <a:t>Data Cleaning Steps:</a:t>
            </a:r>
            <a:endParaRPr lang="en-IN"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640238" y="688156"/>
            <a:ext cx="5779416" cy="4222817"/>
          </a:xfrm>
        </p:spPr>
        <p:txBody>
          <a:bodyPr>
            <a:noAutofit/>
          </a:bodyPr>
          <a:lstStyle/>
          <a:p>
            <a:pPr algn="just"/>
            <a:r>
              <a:rPr lang="en-GB" sz="2400" cap="none" dirty="0">
                <a:latin typeface="Times New Roman" panose="02020603050405020304" pitchFamily="18" charset="0"/>
                <a:cs typeface="Times New Roman" panose="02020603050405020304" pitchFamily="18" charset="0"/>
              </a:rPr>
              <a:t>Standardized brand names by identifying and correcting multi-word entries (</a:t>
            </a:r>
            <a:r>
              <a:rPr lang="en-GB" sz="2400" cap="none" dirty="0" err="1">
                <a:latin typeface="Times New Roman" panose="02020603050405020304" pitchFamily="18" charset="0"/>
                <a:cs typeface="Times New Roman" panose="02020603050405020304" pitchFamily="18" charset="0"/>
              </a:rPr>
              <a:t>e.G.</a:t>
            </a:r>
            <a:r>
              <a:rPr lang="en-GB" sz="2400" cap="none" dirty="0">
                <a:latin typeface="Times New Roman" panose="02020603050405020304" pitchFamily="18" charset="0"/>
                <a:cs typeface="Times New Roman" panose="02020603050405020304" pitchFamily="18" charset="0"/>
              </a:rPr>
              <a:t>, "</a:t>
            </a:r>
            <a:r>
              <a:rPr lang="en-GB" sz="2400" cap="none" dirty="0" err="1">
                <a:latin typeface="Times New Roman" panose="02020603050405020304" pitchFamily="18" charset="0"/>
                <a:cs typeface="Times New Roman" panose="02020603050405020304" pitchFamily="18" charset="0"/>
              </a:rPr>
              <a:t>Realme</a:t>
            </a:r>
            <a:r>
              <a:rPr lang="en-GB" sz="2400" cap="none" dirty="0">
                <a:latin typeface="Times New Roman" panose="02020603050405020304" pitchFamily="18" charset="0"/>
                <a:cs typeface="Times New Roman" panose="02020603050405020304" pitchFamily="18" charset="0"/>
              </a:rPr>
              <a:t> </a:t>
            </a:r>
            <a:r>
              <a:rPr lang="en-GB" sz="2400" cap="none" dirty="0" err="1">
                <a:latin typeface="Times New Roman" panose="02020603050405020304" pitchFamily="18" charset="0"/>
                <a:cs typeface="Times New Roman" panose="02020603050405020304" pitchFamily="18" charset="0"/>
              </a:rPr>
              <a:t>techlife</a:t>
            </a:r>
            <a:r>
              <a:rPr lang="en-GB" sz="2400" cap="none" dirty="0">
                <a:latin typeface="Times New Roman" panose="02020603050405020304" pitchFamily="18" charset="0"/>
                <a:cs typeface="Times New Roman" panose="02020603050405020304" pitchFamily="18" charset="0"/>
              </a:rPr>
              <a:t>", "blue star") and splitting or normalizing inconsistent values for consistency.</a:t>
            </a:r>
          </a:p>
          <a:p>
            <a:pPr algn="just"/>
            <a:r>
              <a:rPr lang="en-GB" sz="2400" cap="none" dirty="0">
                <a:latin typeface="Times New Roman" panose="02020603050405020304" pitchFamily="18" charset="0"/>
                <a:cs typeface="Times New Roman" panose="02020603050405020304" pitchFamily="18" charset="0"/>
              </a:rPr>
              <a:t>Converted columns like </a:t>
            </a:r>
            <a:r>
              <a:rPr lang="en-GB" sz="2400" cap="none" dirty="0" err="1">
                <a:latin typeface="Times New Roman" panose="02020603050405020304" pitchFamily="18" charset="0"/>
                <a:cs typeface="Times New Roman" panose="02020603050405020304" pitchFamily="18" charset="0"/>
              </a:rPr>
              <a:t>model_year</a:t>
            </a:r>
            <a:r>
              <a:rPr lang="en-GB" sz="2400" cap="none" dirty="0">
                <a:latin typeface="Times New Roman" panose="02020603050405020304" pitchFamily="18" charset="0"/>
                <a:cs typeface="Times New Roman" panose="02020603050405020304" pitchFamily="18" charset="0"/>
              </a:rPr>
              <a:t>, </a:t>
            </a:r>
            <a:r>
              <a:rPr lang="en-GB" sz="2400" cap="none" dirty="0" err="1">
                <a:latin typeface="Times New Roman" panose="02020603050405020304" pitchFamily="18" charset="0"/>
                <a:cs typeface="Times New Roman" panose="02020603050405020304" pitchFamily="18" charset="0"/>
              </a:rPr>
              <a:t>star_rating</a:t>
            </a:r>
            <a:r>
              <a:rPr lang="en-GB" sz="2400" cap="none" dirty="0">
                <a:latin typeface="Times New Roman" panose="02020603050405020304" pitchFamily="18" charset="0"/>
                <a:cs typeface="Times New Roman" panose="02020603050405020304" pitchFamily="18" charset="0"/>
              </a:rPr>
              <a:t>, and </a:t>
            </a:r>
            <a:r>
              <a:rPr lang="en-GB" sz="2400" cap="none" dirty="0" err="1">
                <a:latin typeface="Times New Roman" panose="02020603050405020304" pitchFamily="18" charset="0"/>
                <a:cs typeface="Times New Roman" panose="02020603050405020304" pitchFamily="18" charset="0"/>
              </a:rPr>
              <a:t>price_after_discount</a:t>
            </a:r>
            <a:r>
              <a:rPr lang="en-GB" sz="2400" cap="none" dirty="0">
                <a:latin typeface="Times New Roman" panose="02020603050405020304" pitchFamily="18" charset="0"/>
                <a:cs typeface="Times New Roman" panose="02020603050405020304" pitchFamily="18" charset="0"/>
              </a:rPr>
              <a:t> from categorical to numerical formats, as they represent measurable values.</a:t>
            </a:r>
          </a:p>
          <a:p>
            <a:pPr algn="just"/>
            <a:r>
              <a:rPr lang="en-GB" sz="2400" cap="none" dirty="0">
                <a:latin typeface="Times New Roman" panose="02020603050405020304" pitchFamily="18" charset="0"/>
                <a:cs typeface="Times New Roman" panose="02020603050405020304" pitchFamily="18" charset="0"/>
              </a:rPr>
              <a:t>Detected missing values using the </a:t>
            </a:r>
            <a:r>
              <a:rPr lang="en-GB" sz="2400" cap="none" dirty="0" err="1">
                <a:latin typeface="Times New Roman" panose="02020603050405020304" pitchFamily="18" charset="0"/>
                <a:cs typeface="Times New Roman" panose="02020603050405020304" pitchFamily="18" charset="0"/>
              </a:rPr>
              <a:t>isnull</a:t>
            </a:r>
            <a:r>
              <a:rPr lang="en-GB" sz="2400" cap="none" dirty="0">
                <a:latin typeface="Times New Roman" panose="02020603050405020304" pitchFamily="18" charset="0"/>
                <a:cs typeface="Times New Roman" panose="02020603050405020304" pitchFamily="18" charset="0"/>
              </a:rPr>
              <a:t>() method and handled them with suitable imputation techniques, such as mean for numerical and mode for categorical ,using the </a:t>
            </a:r>
            <a:r>
              <a:rPr lang="en-GB" sz="2400" cap="none" dirty="0" err="1">
                <a:latin typeface="Times New Roman" panose="02020603050405020304" pitchFamily="18" charset="0"/>
                <a:cs typeface="Times New Roman" panose="02020603050405020304" pitchFamily="18" charset="0"/>
              </a:rPr>
              <a:t>fillna</a:t>
            </a:r>
            <a:r>
              <a:rPr lang="en-GB" sz="2400" cap="none" dirty="0">
                <a:latin typeface="Times New Roman" panose="02020603050405020304" pitchFamily="18" charset="0"/>
                <a:cs typeface="Times New Roman" panose="02020603050405020304" pitchFamily="18" charset="0"/>
              </a:rPr>
              <a:t>() method.</a:t>
            </a:r>
          </a:p>
          <a:p>
            <a:pPr algn="just"/>
            <a:r>
              <a:rPr lang="en-GB" sz="2400" cap="none" dirty="0">
                <a:latin typeface="Times New Roman" panose="02020603050405020304" pitchFamily="18" charset="0"/>
                <a:cs typeface="Times New Roman" panose="02020603050405020304" pitchFamily="18" charset="0"/>
              </a:rPr>
              <a:t>Checked for duplicates, validated data types, and handled missing values to ensure the dataset was ready for analysis.</a:t>
            </a:r>
            <a:endParaRPr lang="en-IN" sz="2400" cap="none"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23348" y="9427"/>
            <a:ext cx="5668652" cy="6212264"/>
          </a:xfrm>
          <a:prstGeom prst="rect">
            <a:avLst/>
          </a:prstGeom>
        </p:spPr>
      </p:pic>
    </p:spTree>
    <p:extLst>
      <p:ext uri="{BB962C8B-B14F-4D97-AF65-F5344CB8AC3E}">
        <p14:creationId xmlns:p14="http://schemas.microsoft.com/office/powerpoint/2010/main" val="31380755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Data Visualization:</a:t>
            </a: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06152" y="263951"/>
            <a:ext cx="5385847" cy="5957739"/>
          </a:xfrm>
          <a:prstGeom prst="rect">
            <a:avLst/>
          </a:prstGeom>
        </p:spPr>
      </p:pic>
      <p:sp>
        <p:nvSpPr>
          <p:cNvPr id="5" name="Rectangle 4"/>
          <p:cNvSpPr/>
          <p:nvPr/>
        </p:nvSpPr>
        <p:spPr>
          <a:xfrm>
            <a:off x="838200" y="1263192"/>
            <a:ext cx="5722856" cy="4524315"/>
          </a:xfrm>
          <a:prstGeom prst="rect">
            <a:avLst/>
          </a:prstGeom>
        </p:spPr>
        <p:txBody>
          <a:bodyPr wrap="square">
            <a:spAutoFit/>
          </a:bodyPr>
          <a:lstStyle/>
          <a:p>
            <a:pPr algn="just"/>
            <a:endParaRPr lang="en-IN" sz="3000" b="1" dirty="0">
              <a:latin typeface="Times New Roman" panose="02020603050405020304" pitchFamily="18" charset="0"/>
              <a:cs typeface="Times New Roman" panose="02020603050405020304" pitchFamily="18" charset="0"/>
            </a:endParaRPr>
          </a:p>
          <a:p>
            <a:pPr algn="just"/>
            <a:r>
              <a:rPr lang="en-IN" sz="3000" b="1" u="sng" dirty="0">
                <a:latin typeface="Times New Roman" panose="02020603050405020304" pitchFamily="18" charset="0"/>
                <a:cs typeface="Times New Roman" panose="02020603050405020304" pitchFamily="18" charset="0"/>
              </a:rPr>
              <a:t>Univariate analysis:-</a:t>
            </a:r>
          </a:p>
          <a:p>
            <a:pPr algn="just"/>
            <a:endParaRPr lang="en-IN" sz="3000" b="1" dirty="0">
              <a:latin typeface="Times New Roman" panose="02020603050405020304" pitchFamily="18" charset="0"/>
              <a:cs typeface="Times New Roman" panose="02020603050405020304" pitchFamily="18" charset="0"/>
            </a:endParaRPr>
          </a:p>
          <a:p>
            <a:pPr algn="just"/>
            <a:r>
              <a:rPr lang="en-IN" sz="3000" b="1" dirty="0">
                <a:latin typeface="Times New Roman" panose="02020603050405020304" pitchFamily="18" charset="0"/>
                <a:cs typeface="Times New Roman" panose="02020603050405020304" pitchFamily="18" charset="0"/>
              </a:rPr>
              <a:t>Histogram Plot:-</a:t>
            </a: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 In the above Plot we can observe the distribution of the Price_After_Discount of AC's that lies between 25000-45000.- we can observe that AC's which are above 60000 are very less and these can be considered under expensive category.</a:t>
            </a:r>
          </a:p>
        </p:txBody>
      </p:sp>
    </p:spTree>
    <p:extLst>
      <p:ext uri="{BB962C8B-B14F-4D97-AF65-F5344CB8AC3E}">
        <p14:creationId xmlns:p14="http://schemas.microsoft.com/office/powerpoint/2010/main" val="39363893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D5E8E-6849-AC7C-6AB8-8B2CA1F3F652}"/>
              </a:ext>
            </a:extLst>
          </p:cNvPr>
          <p:cNvSpPr>
            <a:spLocks noGrp="1"/>
          </p:cNvSpPr>
          <p:nvPr>
            <p:ph type="title"/>
          </p:nvPr>
        </p:nvSpPr>
        <p:spPr>
          <a:xfrm>
            <a:off x="593889" y="537329"/>
            <a:ext cx="7690021" cy="1178349"/>
          </a:xfrm>
        </p:spPr>
        <p:txBody>
          <a:bodyPr>
            <a:normAutofit/>
          </a:bodyPr>
          <a:lstStyle/>
          <a:p>
            <a:r>
              <a:rPr lang="en-IN" b="1" dirty="0">
                <a:latin typeface="Times New Roman" panose="02020603050405020304" pitchFamily="18" charset="0"/>
                <a:cs typeface="Times New Roman" panose="02020603050405020304" pitchFamily="18" charset="0"/>
              </a:rPr>
              <a:t>Data Visualization:</a:t>
            </a:r>
            <a:endParaRPr lang="en-IN"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09847" y="316016"/>
            <a:ext cx="5282153" cy="5358920"/>
          </a:xfrm>
          <a:prstGeom prst="rect">
            <a:avLst/>
          </a:prstGeom>
        </p:spPr>
      </p:pic>
      <p:sp>
        <p:nvSpPr>
          <p:cNvPr id="4" name="Rectangle 3"/>
          <p:cNvSpPr/>
          <p:nvPr/>
        </p:nvSpPr>
        <p:spPr>
          <a:xfrm>
            <a:off x="593889" y="1376313"/>
            <a:ext cx="5920033" cy="2677656"/>
          </a:xfrm>
          <a:prstGeom prst="rect">
            <a:avLst/>
          </a:prstGeom>
        </p:spPr>
        <p:txBody>
          <a:bodyPr wrap="square">
            <a:spAutoFit/>
          </a:bodyPr>
          <a:lstStyle/>
          <a:p>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Count plot:-</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In this count plot we can observe that most of the AC's are having 3 and 5 star energy rating that shows the impact on power usage.</a:t>
            </a:r>
          </a:p>
        </p:txBody>
      </p:sp>
    </p:spTree>
    <p:extLst>
      <p:ext uri="{BB962C8B-B14F-4D97-AF65-F5344CB8AC3E}">
        <p14:creationId xmlns:p14="http://schemas.microsoft.com/office/powerpoint/2010/main" val="26116738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Data Visualization:</a:t>
            </a: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18672" y="1690688"/>
            <a:ext cx="4473328" cy="3688400"/>
          </a:xfrm>
          <a:prstGeom prst="rect">
            <a:avLst/>
          </a:prstGeom>
        </p:spPr>
      </p:pic>
      <p:sp>
        <p:nvSpPr>
          <p:cNvPr id="5" name="Rectangle 4"/>
          <p:cNvSpPr/>
          <p:nvPr/>
        </p:nvSpPr>
        <p:spPr>
          <a:xfrm>
            <a:off x="838200" y="1517715"/>
            <a:ext cx="6042272" cy="2308324"/>
          </a:xfrm>
          <a:prstGeom prst="rect">
            <a:avLst/>
          </a:prstGeom>
        </p:spPr>
        <p:txBody>
          <a:bodyPr wrap="square">
            <a:spAutoFit/>
          </a:bodyPr>
          <a:lstStyle/>
          <a:p>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Pie Plot:-</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In this plot we can observe the percentages of Room-Size that are compatible for the AC's Performance.</a:t>
            </a:r>
          </a:p>
        </p:txBody>
      </p:sp>
    </p:spTree>
    <p:extLst>
      <p:ext uri="{BB962C8B-B14F-4D97-AF65-F5344CB8AC3E}">
        <p14:creationId xmlns:p14="http://schemas.microsoft.com/office/powerpoint/2010/main" val="16669384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Data Visualization:</a:t>
            </a:r>
            <a:endParaRPr lang="en-IN"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93778" y="612743"/>
            <a:ext cx="5098222" cy="5514680"/>
          </a:xfrm>
          <a:prstGeom prst="rect">
            <a:avLst/>
          </a:prstGeom>
        </p:spPr>
      </p:pic>
      <p:sp>
        <p:nvSpPr>
          <p:cNvPr id="6" name="Rectangle 5"/>
          <p:cNvSpPr/>
          <p:nvPr/>
        </p:nvSpPr>
        <p:spPr>
          <a:xfrm>
            <a:off x="838200" y="1238608"/>
            <a:ext cx="6096000" cy="3416320"/>
          </a:xfrm>
          <a:prstGeom prst="rect">
            <a:avLst/>
          </a:prstGeom>
        </p:spPr>
        <p:txBody>
          <a:bodyPr>
            <a:spAutoFit/>
          </a:bodyPr>
          <a:lstStyle/>
          <a:p>
            <a:pPr algn="just"/>
            <a:endParaRPr lang="en-IN" sz="2400"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Distribution Plot:-</a:t>
            </a:r>
          </a:p>
          <a:p>
            <a:pPr algn="just"/>
            <a:endParaRPr lang="en-IN" sz="2400" b="1"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In the above plot we can observe Distribution of annual power usage in units it is positively skewed and the most of the Ac's power consumption lies between 500 - 1500 and there are only few Ac's which </a:t>
            </a:r>
            <a:r>
              <a:rPr lang="en-IN" sz="2400" dirty="0" err="1">
                <a:latin typeface="Times New Roman" panose="02020603050405020304" pitchFamily="18" charset="0"/>
                <a:cs typeface="Times New Roman" panose="02020603050405020304" pitchFamily="18" charset="0"/>
              </a:rPr>
              <a:t>cosumpts</a:t>
            </a:r>
            <a:r>
              <a:rPr lang="en-IN" sz="2400" dirty="0">
                <a:latin typeface="Times New Roman" panose="02020603050405020304" pitchFamily="18" charset="0"/>
                <a:cs typeface="Times New Roman" panose="02020603050405020304" pitchFamily="18" charset="0"/>
              </a:rPr>
              <a:t> more power greater than 2000 units annually .</a:t>
            </a:r>
          </a:p>
        </p:txBody>
      </p:sp>
    </p:spTree>
    <p:extLst>
      <p:ext uri="{BB962C8B-B14F-4D97-AF65-F5344CB8AC3E}">
        <p14:creationId xmlns:p14="http://schemas.microsoft.com/office/powerpoint/2010/main" val="27115710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D5E8E-6849-AC7C-6AB8-8B2CA1F3F652}"/>
              </a:ext>
            </a:extLst>
          </p:cNvPr>
          <p:cNvSpPr>
            <a:spLocks noGrp="1"/>
          </p:cNvSpPr>
          <p:nvPr>
            <p:ph type="title"/>
          </p:nvPr>
        </p:nvSpPr>
        <p:spPr>
          <a:xfrm>
            <a:off x="716438" y="-754145"/>
            <a:ext cx="7416644" cy="3456657"/>
          </a:xfrm>
        </p:spPr>
        <p:txBody>
          <a:bodyPr>
            <a:normAutofit/>
          </a:bodyPr>
          <a:lstStyle/>
          <a:p>
            <a:r>
              <a:rPr lang="en-IN" b="1" dirty="0">
                <a:latin typeface="Times New Roman" panose="02020603050405020304" pitchFamily="18" charset="0"/>
                <a:cs typeface="Times New Roman" panose="02020603050405020304" pitchFamily="18" charset="0"/>
              </a:rPr>
              <a:t>Data Visualization:</a:t>
            </a:r>
            <a:endParaRPr lang="en-IN"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71761" y="0"/>
            <a:ext cx="4820239" cy="6202837"/>
          </a:xfrm>
          <a:prstGeom prst="rect">
            <a:avLst/>
          </a:prstGeom>
        </p:spPr>
      </p:pic>
      <p:sp>
        <p:nvSpPr>
          <p:cNvPr id="4" name="Rectangle 3"/>
          <p:cNvSpPr/>
          <p:nvPr/>
        </p:nvSpPr>
        <p:spPr>
          <a:xfrm>
            <a:off x="716438" y="1225184"/>
            <a:ext cx="6096000" cy="4278094"/>
          </a:xfrm>
          <a:prstGeom prst="rect">
            <a:avLst/>
          </a:prstGeom>
        </p:spPr>
        <p:txBody>
          <a:bodyPr>
            <a:spAutoFit/>
          </a:bodyPr>
          <a:lstStyle/>
          <a:p>
            <a:pPr algn="just"/>
            <a:endParaRPr lang="en-IN" sz="2700" b="1" u="sng" dirty="0">
              <a:latin typeface="Times New Roman" panose="02020603050405020304" pitchFamily="18" charset="0"/>
              <a:cs typeface="Times New Roman" panose="02020603050405020304" pitchFamily="18" charset="0"/>
            </a:endParaRPr>
          </a:p>
          <a:p>
            <a:pPr algn="just"/>
            <a:r>
              <a:rPr lang="en-IN" sz="2700" b="1" u="sng" dirty="0">
                <a:latin typeface="Times New Roman" panose="02020603050405020304" pitchFamily="18" charset="0"/>
                <a:cs typeface="Times New Roman" panose="02020603050405020304" pitchFamily="18" charset="0"/>
              </a:rPr>
              <a:t>Bivariate analysis:-</a:t>
            </a:r>
          </a:p>
          <a:p>
            <a:pPr algn="just"/>
            <a:endParaRPr lang="en-IN" sz="2400" dirty="0">
              <a:latin typeface="Times New Roman" panose="02020603050405020304" pitchFamily="18" charset="0"/>
              <a:cs typeface="Times New Roman" panose="02020603050405020304" pitchFamily="18" charset="0"/>
            </a:endParaRPr>
          </a:p>
          <a:p>
            <a:pPr algn="just"/>
            <a:r>
              <a:rPr lang="en-IN" sz="2600" b="1" dirty="0">
                <a:latin typeface="Times New Roman" panose="02020603050405020304" pitchFamily="18" charset="0"/>
                <a:cs typeface="Times New Roman" panose="02020603050405020304" pitchFamily="18" charset="0"/>
              </a:rPr>
              <a:t>Bar Plot:-</a:t>
            </a: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In the above plot we can observe that few Brands like General, Toshiba, LG, Daikin, Admiral are costlier as compared to Remaining Brands ,so if try to provide more discounts or any other offers on these Brands we can see a huge raise in these brands also.</a:t>
            </a:r>
          </a:p>
        </p:txBody>
      </p:sp>
    </p:spTree>
    <p:extLst>
      <p:ext uri="{BB962C8B-B14F-4D97-AF65-F5344CB8AC3E}">
        <p14:creationId xmlns:p14="http://schemas.microsoft.com/office/powerpoint/2010/main" val="2844905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D5E8E-6849-AC7C-6AB8-8B2CA1F3F652}"/>
              </a:ext>
            </a:extLst>
          </p:cNvPr>
          <p:cNvSpPr>
            <a:spLocks noGrp="1"/>
          </p:cNvSpPr>
          <p:nvPr>
            <p:ph type="title"/>
          </p:nvPr>
        </p:nvSpPr>
        <p:spPr>
          <a:xfrm>
            <a:off x="688156" y="0"/>
            <a:ext cx="6210013" cy="1750406"/>
          </a:xfrm>
        </p:spPr>
        <p:txBody>
          <a:bodyPr>
            <a:normAutofit/>
          </a:bodyPr>
          <a:lstStyle/>
          <a:p>
            <a:r>
              <a:rPr lang="en-IN" b="1" dirty="0">
                <a:latin typeface="Times New Roman" panose="02020603050405020304" pitchFamily="18" charset="0"/>
                <a:cs typeface="Times New Roman" panose="02020603050405020304" pitchFamily="18" charset="0"/>
              </a:rPr>
              <a:t>Data Visualization:</a:t>
            </a:r>
            <a:endParaRPr lang="en-IN"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81946" y="941203"/>
            <a:ext cx="5810054" cy="4183743"/>
          </a:xfrm>
          <a:prstGeom prst="rect">
            <a:avLst/>
          </a:prstGeom>
        </p:spPr>
      </p:pic>
      <p:sp>
        <p:nvSpPr>
          <p:cNvPr id="4" name="Rectangle 3"/>
          <p:cNvSpPr/>
          <p:nvPr/>
        </p:nvSpPr>
        <p:spPr>
          <a:xfrm>
            <a:off x="763572" y="1282045"/>
            <a:ext cx="5524106" cy="3785652"/>
          </a:xfrm>
          <a:prstGeom prst="rect">
            <a:avLst/>
          </a:prstGeom>
        </p:spPr>
        <p:txBody>
          <a:bodyPr wrap="square">
            <a:spAutoFit/>
          </a:bodyPr>
          <a:lstStyle/>
          <a:p>
            <a:pPr algn="just"/>
            <a:endParaRPr lang="en-IN" sz="2400"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Reg Plot:-</a:t>
            </a: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In this  plot we can observe that the Ac's which are priced between 25000-60000 maximum of them having ratings in between 4.0-4.5 if improve the efficiency of the Ac's and also improve  the Factors which are effecting the rating so we can improve the sales of Ac's Based on that.</a:t>
            </a:r>
          </a:p>
        </p:txBody>
      </p:sp>
    </p:spTree>
    <p:extLst>
      <p:ext uri="{BB962C8B-B14F-4D97-AF65-F5344CB8AC3E}">
        <p14:creationId xmlns:p14="http://schemas.microsoft.com/office/powerpoint/2010/main" val="34421043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D5E8E-6849-AC7C-6AB8-8B2CA1F3F652}"/>
              </a:ext>
            </a:extLst>
          </p:cNvPr>
          <p:cNvSpPr>
            <a:spLocks noGrp="1"/>
          </p:cNvSpPr>
          <p:nvPr>
            <p:ph type="title"/>
          </p:nvPr>
        </p:nvSpPr>
        <p:spPr>
          <a:xfrm>
            <a:off x="584462" y="235670"/>
            <a:ext cx="6360842" cy="1043395"/>
          </a:xfrm>
        </p:spPr>
        <p:txBody>
          <a:bodyPr>
            <a:normAutofit/>
          </a:bodyPr>
          <a:lstStyle/>
          <a:p>
            <a:r>
              <a:rPr lang="en-IN" b="1" dirty="0">
                <a:latin typeface="Times New Roman" panose="02020603050405020304" pitchFamily="18" charset="0"/>
                <a:cs typeface="Times New Roman" panose="02020603050405020304" pitchFamily="18" charset="0"/>
              </a:rPr>
              <a:t>Data Visualization:</a:t>
            </a:r>
            <a:endParaRPr lang="en-IN"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3286" y="868854"/>
            <a:ext cx="5338713" cy="5044877"/>
          </a:xfrm>
          <a:prstGeom prst="rect">
            <a:avLst/>
          </a:prstGeom>
        </p:spPr>
      </p:pic>
      <p:sp>
        <p:nvSpPr>
          <p:cNvPr id="4" name="Rectangle 3"/>
          <p:cNvSpPr/>
          <p:nvPr/>
        </p:nvSpPr>
        <p:spPr>
          <a:xfrm>
            <a:off x="584462" y="1036948"/>
            <a:ext cx="5976594" cy="4893647"/>
          </a:xfrm>
          <a:prstGeom prst="rect">
            <a:avLst/>
          </a:prstGeom>
        </p:spPr>
        <p:txBody>
          <a:bodyPr wrap="square">
            <a:spAutoFit/>
          </a:bodyPr>
          <a:lstStyle/>
          <a:p>
            <a:pPr algn="just"/>
            <a:endParaRPr lang="en-IN" sz="2400"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LM Plot:-</a:t>
            </a: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In this plot we can observe that the relation line is </a:t>
            </a:r>
            <a:r>
              <a:rPr lang="en-IN" sz="2400" dirty="0" err="1">
                <a:latin typeface="Times New Roman" panose="02020603050405020304" pitchFamily="18" charset="0"/>
                <a:cs typeface="Times New Roman" panose="02020603050405020304" pitchFamily="18" charset="0"/>
              </a:rPr>
              <a:t>positvely</a:t>
            </a:r>
            <a:r>
              <a:rPr lang="en-IN" sz="2400" dirty="0">
                <a:latin typeface="Times New Roman" panose="02020603050405020304" pitchFamily="18" charset="0"/>
                <a:cs typeface="Times New Roman" panose="02020603050405020304" pitchFamily="18" charset="0"/>
              </a:rPr>
              <a:t> increasing from this we understand as the Capacity  is </a:t>
            </a:r>
            <a:r>
              <a:rPr lang="en-IN" sz="2400" dirty="0" err="1">
                <a:latin typeface="Times New Roman" panose="02020603050405020304" pitchFamily="18" charset="0"/>
                <a:cs typeface="Times New Roman" panose="02020603050405020304" pitchFamily="18" charset="0"/>
              </a:rPr>
              <a:t>incresing</a:t>
            </a:r>
            <a:r>
              <a:rPr lang="en-IN" sz="2400" dirty="0">
                <a:latin typeface="Times New Roman" panose="02020603050405020304" pitchFamily="18" charset="0"/>
                <a:cs typeface="Times New Roman" panose="02020603050405020304" pitchFamily="18" charset="0"/>
              </a:rPr>
              <a:t> the price is also </a:t>
            </a:r>
            <a:r>
              <a:rPr lang="en-IN" sz="2400" dirty="0" err="1">
                <a:latin typeface="Times New Roman" panose="02020603050405020304" pitchFamily="18" charset="0"/>
                <a:cs typeface="Times New Roman" panose="02020603050405020304" pitchFamily="18" charset="0"/>
              </a:rPr>
              <a:t>incresing.To</a:t>
            </a:r>
            <a:r>
              <a:rPr lang="en-IN" sz="2400" dirty="0">
                <a:latin typeface="Times New Roman" panose="02020603050405020304" pitchFamily="18" charset="0"/>
                <a:cs typeface="Times New Roman" panose="02020603050405020304" pitchFamily="18" charset="0"/>
              </a:rPr>
              <a:t> improve sales we can market based on capacity as 1 ton ac's are budget friendly and </a:t>
            </a:r>
            <a:r>
              <a:rPr lang="en-IN" sz="2400" dirty="0" err="1">
                <a:latin typeface="Times New Roman" panose="02020603050405020304" pitchFamily="18" charset="0"/>
                <a:cs typeface="Times New Roman" panose="02020603050405020304" pitchFamily="18" charset="0"/>
              </a:rPr>
              <a:t>cosumes</a:t>
            </a:r>
            <a:r>
              <a:rPr lang="en-IN" sz="2400" dirty="0">
                <a:latin typeface="Times New Roman" panose="02020603050405020304" pitchFamily="18" charset="0"/>
                <a:cs typeface="Times New Roman" panose="02020603050405020304" pitchFamily="18" charset="0"/>
              </a:rPr>
              <a:t> less power , 1.5 are used for medium spaces and gives </a:t>
            </a:r>
            <a:r>
              <a:rPr lang="en-IN" sz="2400" dirty="0" err="1">
                <a:latin typeface="Times New Roman" panose="02020603050405020304" pitchFamily="18" charset="0"/>
                <a:cs typeface="Times New Roman" panose="02020603050405020304" pitchFamily="18" charset="0"/>
              </a:rPr>
              <a:t>powerfull</a:t>
            </a:r>
            <a:r>
              <a:rPr lang="en-IN" sz="2400" dirty="0">
                <a:latin typeface="Times New Roman" panose="02020603050405020304" pitchFamily="18" charset="0"/>
                <a:cs typeface="Times New Roman" panose="02020603050405020304" pitchFamily="18" charset="0"/>
              </a:rPr>
              <a:t> cooling and 2 - 2.5 ac's are used in large spaces and gives powerful cooling compared to other capacity ac's.</a:t>
            </a:r>
          </a:p>
        </p:txBody>
      </p:sp>
    </p:spTree>
    <p:extLst>
      <p:ext uri="{BB962C8B-B14F-4D97-AF65-F5344CB8AC3E}">
        <p14:creationId xmlns:p14="http://schemas.microsoft.com/office/powerpoint/2010/main" val="16960615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D5E8E-6849-AC7C-6AB8-8B2CA1F3F652}"/>
              </a:ext>
            </a:extLst>
          </p:cNvPr>
          <p:cNvSpPr>
            <a:spLocks noGrp="1"/>
          </p:cNvSpPr>
          <p:nvPr>
            <p:ph type="title"/>
          </p:nvPr>
        </p:nvSpPr>
        <p:spPr>
          <a:xfrm>
            <a:off x="584462" y="235670"/>
            <a:ext cx="6360842" cy="1043395"/>
          </a:xfrm>
        </p:spPr>
        <p:txBody>
          <a:bodyPr>
            <a:normAutofit/>
          </a:bodyPr>
          <a:lstStyle/>
          <a:p>
            <a:r>
              <a:rPr lang="en-IN" b="1" dirty="0">
                <a:latin typeface="Times New Roman" panose="02020603050405020304" pitchFamily="18" charset="0"/>
                <a:cs typeface="Times New Roman" panose="02020603050405020304" pitchFamily="18" charset="0"/>
              </a:rPr>
              <a:t>Data Visualization:</a:t>
            </a:r>
            <a:endParaRPr lang="en-IN"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96726" y="1121128"/>
            <a:ext cx="5322376" cy="4389500"/>
          </a:xfrm>
          <a:prstGeom prst="rect">
            <a:avLst/>
          </a:prstGeom>
        </p:spPr>
      </p:pic>
      <p:sp>
        <p:nvSpPr>
          <p:cNvPr id="5" name="Rectangle 4"/>
          <p:cNvSpPr/>
          <p:nvPr/>
        </p:nvSpPr>
        <p:spPr>
          <a:xfrm>
            <a:off x="584462" y="1121128"/>
            <a:ext cx="6096000" cy="3785652"/>
          </a:xfrm>
          <a:prstGeom prst="rect">
            <a:avLst/>
          </a:prstGeom>
        </p:spPr>
        <p:txBody>
          <a:bodyPr>
            <a:spAutoFit/>
          </a:bodyPr>
          <a:lstStyle/>
          <a:p>
            <a:pPr algn="just"/>
            <a:endParaRPr lang="en-IN" sz="2400"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Bar Plot:-</a:t>
            </a: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In this plot we can observe relation between Annual power usage and </a:t>
            </a:r>
            <a:r>
              <a:rPr lang="en-IN" sz="2400" dirty="0" err="1">
                <a:latin typeface="Times New Roman" panose="02020603050405020304" pitchFamily="18" charset="0"/>
                <a:cs typeface="Times New Roman" panose="02020603050405020304" pitchFamily="18" charset="0"/>
              </a:rPr>
              <a:t>RoomSize</a:t>
            </a:r>
            <a:r>
              <a:rPr lang="en-IN" sz="2400" dirty="0">
                <a:latin typeface="Times New Roman" panose="02020603050405020304" pitchFamily="18" charset="0"/>
                <a:cs typeface="Times New Roman" panose="02020603050405020304" pitchFamily="18" charset="0"/>
              </a:rPr>
              <a:t> . We can observe that annual power usage is not based on the Room Size- we can suggest the  Ac's manufacturers to Build Ac's that  </a:t>
            </a:r>
            <a:r>
              <a:rPr lang="en-IN" sz="2400" dirty="0" err="1">
                <a:latin typeface="Times New Roman" panose="02020603050405020304" pitchFamily="18" charset="0"/>
                <a:cs typeface="Times New Roman" panose="02020603050405020304" pitchFamily="18" charset="0"/>
              </a:rPr>
              <a:t>cosume</a:t>
            </a:r>
            <a:r>
              <a:rPr lang="en-IN" sz="2400" dirty="0">
                <a:latin typeface="Times New Roman" panose="02020603050405020304" pitchFamily="18" charset="0"/>
                <a:cs typeface="Times New Roman" panose="02020603050405020304" pitchFamily="18" charset="0"/>
              </a:rPr>
              <a:t> power based on the room size- This is also one of the factor that is affecting the sales.</a:t>
            </a:r>
          </a:p>
        </p:txBody>
      </p:sp>
    </p:spTree>
    <p:extLst>
      <p:ext uri="{BB962C8B-B14F-4D97-AF65-F5344CB8AC3E}">
        <p14:creationId xmlns:p14="http://schemas.microsoft.com/office/powerpoint/2010/main" val="22887421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D5E8E-6849-AC7C-6AB8-8B2CA1F3F652}"/>
              </a:ext>
            </a:extLst>
          </p:cNvPr>
          <p:cNvSpPr>
            <a:spLocks noGrp="1"/>
          </p:cNvSpPr>
          <p:nvPr>
            <p:ph type="title"/>
          </p:nvPr>
        </p:nvSpPr>
        <p:spPr>
          <a:xfrm>
            <a:off x="584462" y="235670"/>
            <a:ext cx="6360842" cy="1043395"/>
          </a:xfrm>
        </p:spPr>
        <p:txBody>
          <a:bodyPr>
            <a:normAutofit/>
          </a:bodyPr>
          <a:lstStyle/>
          <a:p>
            <a:r>
              <a:rPr lang="en-IN" sz="3400" b="1" dirty="0">
                <a:latin typeface="Times New Roman" panose="02020603050405020304" pitchFamily="18" charset="0"/>
                <a:cs typeface="Times New Roman" panose="02020603050405020304" pitchFamily="18" charset="0"/>
              </a:rPr>
              <a:t>Data Visualization:</a:t>
            </a:r>
            <a:endParaRPr lang="en-IN" sz="34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25387" y="947881"/>
            <a:ext cx="5866614" cy="5075360"/>
          </a:xfrm>
          <a:prstGeom prst="rect">
            <a:avLst/>
          </a:prstGeom>
        </p:spPr>
      </p:pic>
      <p:sp>
        <p:nvSpPr>
          <p:cNvPr id="4" name="Rectangle 3"/>
          <p:cNvSpPr/>
          <p:nvPr/>
        </p:nvSpPr>
        <p:spPr>
          <a:xfrm>
            <a:off x="584462" y="1058780"/>
            <a:ext cx="5740925" cy="5678478"/>
          </a:xfrm>
          <a:prstGeom prst="rect">
            <a:avLst/>
          </a:prstGeom>
        </p:spPr>
        <p:txBody>
          <a:bodyPr wrap="square">
            <a:spAutoFit/>
          </a:bodyPr>
          <a:lstStyle/>
          <a:p>
            <a:pPr algn="just"/>
            <a:r>
              <a:rPr lang="en-IN" sz="2700" b="1" u="sng" dirty="0">
                <a:latin typeface="Times New Roman" panose="02020603050405020304" pitchFamily="18" charset="0"/>
                <a:cs typeface="Times New Roman" panose="02020603050405020304" pitchFamily="18" charset="0"/>
              </a:rPr>
              <a:t>multivariate analysis:_</a:t>
            </a:r>
            <a:endParaRPr lang="en-IN" sz="2700" u="sng"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Heat Map:-</a:t>
            </a: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This plot shows relation between all numerical columns present in the data- From the correlation </a:t>
            </a:r>
            <a:r>
              <a:rPr lang="en-IN" sz="2400" dirty="0" err="1">
                <a:latin typeface="Times New Roman" panose="02020603050405020304" pitchFamily="18" charset="0"/>
                <a:cs typeface="Times New Roman" panose="02020603050405020304" pitchFamily="18" charset="0"/>
              </a:rPr>
              <a:t>heatmap</a:t>
            </a:r>
            <a:r>
              <a:rPr lang="en-IN" sz="2400" dirty="0">
                <a:latin typeface="Times New Roman" panose="02020603050405020304" pitchFamily="18" charset="0"/>
                <a:cs typeface="Times New Roman" panose="02020603050405020304" pitchFamily="18" charset="0"/>
              </a:rPr>
              <a:t>, we can see that AC capacity has a strong positive correlation with price.-  while discount percentage shows a negative correlation, indicating that larger capacity models are priced higher and discounts significantly reduce the final price.-  Based on the negative relation we should provide </a:t>
            </a:r>
            <a:r>
              <a:rPr lang="en-IN" sz="2400" dirty="0" err="1">
                <a:latin typeface="Times New Roman" panose="02020603050405020304" pitchFamily="18" charset="0"/>
                <a:cs typeface="Times New Roman" panose="02020603050405020304" pitchFamily="18" charset="0"/>
              </a:rPr>
              <a:t>dicounts</a:t>
            </a:r>
            <a:r>
              <a:rPr lang="en-IN" sz="2400" dirty="0">
                <a:latin typeface="Times New Roman" panose="02020603050405020304" pitchFamily="18" charset="0"/>
                <a:cs typeface="Times New Roman" panose="02020603050405020304" pitchFamily="18" charset="0"/>
              </a:rPr>
              <a:t> on larger capacity models so it might help in sales.</a:t>
            </a:r>
          </a:p>
        </p:txBody>
      </p:sp>
    </p:spTree>
    <p:extLst>
      <p:ext uri="{BB962C8B-B14F-4D97-AF65-F5344CB8AC3E}">
        <p14:creationId xmlns:p14="http://schemas.microsoft.com/office/powerpoint/2010/main" val="35499265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D5E8E-6849-AC7C-6AB8-8B2CA1F3F652}"/>
              </a:ext>
            </a:extLst>
          </p:cNvPr>
          <p:cNvSpPr>
            <a:spLocks noGrp="1"/>
          </p:cNvSpPr>
          <p:nvPr>
            <p:ph type="title"/>
          </p:nvPr>
        </p:nvSpPr>
        <p:spPr>
          <a:xfrm>
            <a:off x="584462" y="235670"/>
            <a:ext cx="6360842" cy="1043395"/>
          </a:xfrm>
        </p:spPr>
        <p:txBody>
          <a:bodyPr>
            <a:normAutofit/>
          </a:bodyPr>
          <a:lstStyle/>
          <a:p>
            <a:r>
              <a:rPr lang="en-IN" b="1" dirty="0">
                <a:latin typeface="Times New Roman" panose="02020603050405020304" pitchFamily="18" charset="0"/>
                <a:cs typeface="Times New Roman" panose="02020603050405020304" pitchFamily="18" charset="0"/>
              </a:rPr>
              <a:t>Data Visualization:</a:t>
            </a:r>
            <a:endParaRPr lang="en-IN"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21311" y="866058"/>
            <a:ext cx="5470689" cy="5220152"/>
          </a:xfrm>
          <a:prstGeom prst="rect">
            <a:avLst/>
          </a:prstGeom>
        </p:spPr>
      </p:pic>
      <p:sp>
        <p:nvSpPr>
          <p:cNvPr id="5" name="Rectangle 4"/>
          <p:cNvSpPr/>
          <p:nvPr/>
        </p:nvSpPr>
        <p:spPr>
          <a:xfrm>
            <a:off x="584462" y="958708"/>
            <a:ext cx="6096000" cy="4154984"/>
          </a:xfrm>
          <a:prstGeom prst="rect">
            <a:avLst/>
          </a:prstGeom>
        </p:spPr>
        <p:txBody>
          <a:bodyPr>
            <a:spAutoFit/>
          </a:bodyPr>
          <a:lstStyle/>
          <a:p>
            <a:pPr algn="just"/>
            <a:endParaRPr lang="en-IN" sz="2400"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Scatter Plot:-</a:t>
            </a: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The plot shows that AC price increases with capacity, and within each capacity, higher star-rated models tend to have slightly higher prices, reflecting the added value of energy efficiency.- To improve sales ,we have to focus on promoting energy-efficiency based on star rating and also prove offers and high lighting the long term savings.</a:t>
            </a:r>
          </a:p>
        </p:txBody>
      </p:sp>
    </p:spTree>
    <p:extLst>
      <p:ext uri="{BB962C8B-B14F-4D97-AF65-F5344CB8AC3E}">
        <p14:creationId xmlns:p14="http://schemas.microsoft.com/office/powerpoint/2010/main" val="23451919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D5E8E-6849-AC7C-6AB8-8B2CA1F3F652}"/>
              </a:ext>
            </a:extLst>
          </p:cNvPr>
          <p:cNvSpPr>
            <a:spLocks noGrp="1"/>
          </p:cNvSpPr>
          <p:nvPr>
            <p:ph type="title"/>
          </p:nvPr>
        </p:nvSpPr>
        <p:spPr>
          <a:xfrm>
            <a:off x="584462" y="235670"/>
            <a:ext cx="6360842" cy="1043395"/>
          </a:xfrm>
        </p:spPr>
        <p:txBody>
          <a:bodyPr>
            <a:normAutofit/>
          </a:bodyPr>
          <a:lstStyle/>
          <a:p>
            <a:r>
              <a:rPr lang="en-IN" b="1" dirty="0">
                <a:latin typeface="Times New Roman" panose="02020603050405020304" pitchFamily="18" charset="0"/>
                <a:cs typeface="Times New Roman" panose="02020603050405020304" pitchFamily="18" charset="0"/>
              </a:rPr>
              <a:t>Data Visualization:</a:t>
            </a:r>
            <a:endParaRPr lang="en-IN"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23219" y="1186324"/>
            <a:ext cx="6068781" cy="4541914"/>
          </a:xfrm>
          <a:prstGeom prst="rect">
            <a:avLst/>
          </a:prstGeom>
        </p:spPr>
      </p:pic>
      <p:sp>
        <p:nvSpPr>
          <p:cNvPr id="5" name="Rectangle 4"/>
          <p:cNvSpPr/>
          <p:nvPr/>
        </p:nvSpPr>
        <p:spPr>
          <a:xfrm>
            <a:off x="584462" y="1186324"/>
            <a:ext cx="5538757" cy="3416320"/>
          </a:xfrm>
          <a:prstGeom prst="rect">
            <a:avLst/>
          </a:prstGeom>
        </p:spPr>
        <p:txBody>
          <a:bodyPr wrap="square">
            <a:spAutoFit/>
          </a:bodyPr>
          <a:lstStyle/>
          <a:p>
            <a:pPr algn="just"/>
            <a:endParaRPr lang="en-IN" sz="2400"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Box Plot:-</a:t>
            </a: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The plot shows that higher star ratings and longer warranties are associated with higher prices, suggesting that promoting energy efficiency along with extended warranty offers can effectively boost customer trust and sales.</a:t>
            </a:r>
          </a:p>
        </p:txBody>
      </p:sp>
    </p:spTree>
    <p:extLst>
      <p:ext uri="{BB962C8B-B14F-4D97-AF65-F5344CB8AC3E}">
        <p14:creationId xmlns:p14="http://schemas.microsoft.com/office/powerpoint/2010/main" val="9118429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D5E8E-6849-AC7C-6AB8-8B2CA1F3F652}"/>
              </a:ext>
            </a:extLst>
          </p:cNvPr>
          <p:cNvSpPr>
            <a:spLocks noGrp="1"/>
          </p:cNvSpPr>
          <p:nvPr>
            <p:ph type="title"/>
          </p:nvPr>
        </p:nvSpPr>
        <p:spPr>
          <a:xfrm>
            <a:off x="584462" y="235670"/>
            <a:ext cx="6360842" cy="1043395"/>
          </a:xfrm>
        </p:spPr>
        <p:txBody>
          <a:bodyPr>
            <a:normAutofit/>
          </a:bodyPr>
          <a:lstStyle/>
          <a:p>
            <a:r>
              <a:rPr lang="en-IN" dirty="0">
                <a:latin typeface="Times New Roman" panose="02020603050405020304" pitchFamily="18" charset="0"/>
                <a:cs typeface="Times New Roman" panose="02020603050405020304" pitchFamily="18" charset="0"/>
              </a:rPr>
              <a:t>Key Business Questions</a:t>
            </a:r>
            <a:endParaRPr lang="en-IN" dirty="0"/>
          </a:p>
        </p:txBody>
      </p:sp>
      <p:sp>
        <p:nvSpPr>
          <p:cNvPr id="4" name="Rectangle 3"/>
          <p:cNvSpPr/>
          <p:nvPr/>
        </p:nvSpPr>
        <p:spPr>
          <a:xfrm>
            <a:off x="411338" y="1377826"/>
            <a:ext cx="9410781" cy="3673121"/>
          </a:xfrm>
          <a:prstGeom prst="rect">
            <a:avLst/>
          </a:prstGeom>
        </p:spPr>
        <p:txBody>
          <a:bodyPr wrap="none">
            <a:spAutoFit/>
          </a:bodyPr>
          <a:lstStyle/>
          <a:p>
            <a:pPr marL="342900" indent="-342900" algn="just">
              <a:lnSpc>
                <a:spcPct val="20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What is the price distribution across different AC capacities</a:t>
            </a:r>
          </a:p>
          <a:p>
            <a:pPr marL="342900" indent="-342900" algn="just">
              <a:lnSpc>
                <a:spcPct val="200000"/>
              </a:lnSpc>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How does the price vary by star rating</a:t>
            </a:r>
          </a:p>
          <a:p>
            <a:pPr marL="342900" indent="-342900" algn="just">
              <a:lnSpc>
                <a:spcPct val="200000"/>
              </a:lnSpc>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What is the correlation between different numerical columns</a:t>
            </a:r>
          </a:p>
          <a:p>
            <a:pPr marL="342900" indent="-342900" algn="just">
              <a:lnSpc>
                <a:spcPct val="200000"/>
              </a:lnSpc>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How does annual power consumption vary across different </a:t>
            </a:r>
            <a:r>
              <a:rPr lang="en-GB" sz="2400" dirty="0" err="1">
                <a:latin typeface="Times New Roman" panose="02020603050405020304" pitchFamily="18" charset="0"/>
                <a:cs typeface="Times New Roman" panose="02020603050405020304" pitchFamily="18" charset="0"/>
              </a:rPr>
              <a:t>Room_Sizes</a:t>
            </a:r>
            <a:endParaRPr lang="en-GB" sz="2400" dirty="0">
              <a:latin typeface="Times New Roman" panose="02020603050405020304" pitchFamily="18" charset="0"/>
              <a:cs typeface="Times New Roman" panose="02020603050405020304" pitchFamily="18" charset="0"/>
            </a:endParaRPr>
          </a:p>
          <a:p>
            <a:pPr marL="342900" indent="-342900" algn="just">
              <a:lnSpc>
                <a:spcPct val="200000"/>
              </a:lnSpc>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What is the distribution of annual power consumption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135143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D5E8E-6849-AC7C-6AB8-8B2CA1F3F652}"/>
              </a:ext>
            </a:extLst>
          </p:cNvPr>
          <p:cNvSpPr>
            <a:spLocks noGrp="1"/>
          </p:cNvSpPr>
          <p:nvPr>
            <p:ph type="title"/>
          </p:nvPr>
        </p:nvSpPr>
        <p:spPr>
          <a:xfrm>
            <a:off x="820132" y="154052"/>
            <a:ext cx="6360842" cy="1043395"/>
          </a:xfrm>
        </p:spPr>
        <p:txBody>
          <a:bodyPr>
            <a:normAutofit/>
          </a:bodyPr>
          <a:lstStyle/>
          <a:p>
            <a:r>
              <a:rPr lang="en-IN" b="1" dirty="0">
                <a:latin typeface="Times New Roman" panose="02020603050405020304" pitchFamily="18" charset="0"/>
                <a:cs typeface="Times New Roman" panose="02020603050405020304" pitchFamily="18" charset="0"/>
              </a:rPr>
              <a:t>Conclusion:</a:t>
            </a:r>
            <a:endParaRPr lang="en-IN" dirty="0">
              <a:latin typeface="Times New Roman" panose="02020603050405020304" pitchFamily="18" charset="0"/>
              <a:cs typeface="Times New Roman" panose="02020603050405020304" pitchFamily="18" charset="0"/>
            </a:endParaRPr>
          </a:p>
        </p:txBody>
      </p:sp>
      <p:sp>
        <p:nvSpPr>
          <p:cNvPr id="3" name="Rectangle 2"/>
          <p:cNvSpPr/>
          <p:nvPr/>
        </p:nvSpPr>
        <p:spPr>
          <a:xfrm>
            <a:off x="952107" y="1197447"/>
            <a:ext cx="8323868" cy="4154984"/>
          </a:xfrm>
          <a:prstGeom prst="rect">
            <a:avLst/>
          </a:prstGeom>
        </p:spPr>
        <p:txBody>
          <a:bodyPr wrap="square">
            <a:spAutoFit/>
          </a:bodyPr>
          <a:lstStyle/>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This project transformed Flipkart AC data into clear and meaningful insights.</a:t>
            </a:r>
          </a:p>
          <a:p>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It </a:t>
            </a:r>
            <a:r>
              <a:rPr lang="en-IN" sz="2400" dirty="0" err="1">
                <a:latin typeface="Times New Roman" panose="02020603050405020304" pitchFamily="18" charset="0"/>
                <a:cs typeface="Times New Roman" panose="02020603050405020304" pitchFamily="18" charset="0"/>
              </a:rPr>
              <a:t>analyzed</a:t>
            </a:r>
            <a:r>
              <a:rPr lang="en-IN" sz="2400" dirty="0">
                <a:latin typeface="Times New Roman" panose="02020603050405020304" pitchFamily="18" charset="0"/>
                <a:cs typeface="Times New Roman" panose="02020603050405020304" pitchFamily="18" charset="0"/>
              </a:rPr>
              <a:t> prices, features, and ratings to understand market trends and customer preferences.</a:t>
            </a:r>
          </a:p>
          <a:p>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insights highlight which brands and models offer the best value for money.</a:t>
            </a:r>
          </a:p>
          <a:p>
            <a:pPr marL="342900" indent="-34290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These findings help buyers make smarter, faster, and more confident purchase decisions.</a:t>
            </a:r>
          </a:p>
        </p:txBody>
      </p:sp>
    </p:spTree>
    <p:extLst>
      <p:ext uri="{BB962C8B-B14F-4D97-AF65-F5344CB8AC3E}">
        <p14:creationId xmlns:p14="http://schemas.microsoft.com/office/powerpoint/2010/main" val="18291705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Eric D. Schabell: 5 Questions Everyone's Asking About Microservices ..."/>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53765" y="1319751"/>
            <a:ext cx="10086680" cy="4930219"/>
          </a:xfrm>
          <a:prstGeom prst="rect">
            <a:avLst/>
          </a:prstGeom>
        </p:spPr>
      </p:pic>
      <p:sp>
        <p:nvSpPr>
          <p:cNvPr id="4" name="Title 3"/>
          <p:cNvSpPr>
            <a:spLocks noGrp="1"/>
          </p:cNvSpPr>
          <p:nvPr>
            <p:ph type="title"/>
          </p:nvPr>
        </p:nvSpPr>
        <p:spPr>
          <a:xfrm>
            <a:off x="1272619" y="374552"/>
            <a:ext cx="10515600" cy="1325563"/>
          </a:xfrm>
        </p:spPr>
        <p:txBody>
          <a:bodyPr>
            <a:normAutofit/>
          </a:bodyPr>
          <a:lstStyle/>
          <a:p>
            <a:r>
              <a:rPr lang="en-IN" cap="none" dirty="0">
                <a:latin typeface="Times New Roman" panose="02020603050405020304" pitchFamily="18" charset="0"/>
                <a:cs typeface="Times New Roman" panose="02020603050405020304" pitchFamily="18" charset="0"/>
              </a:rPr>
              <a:t>Any questions</a:t>
            </a:r>
          </a:p>
        </p:txBody>
      </p:sp>
    </p:spTree>
    <p:extLst>
      <p:ext uri="{BB962C8B-B14F-4D97-AF65-F5344CB8AC3E}">
        <p14:creationId xmlns:p14="http://schemas.microsoft.com/office/powerpoint/2010/main" val="3509195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D5E8E-6849-AC7C-6AB8-8B2CA1F3F652}"/>
              </a:ext>
            </a:extLst>
          </p:cNvPr>
          <p:cNvSpPr>
            <a:spLocks noGrp="1"/>
          </p:cNvSpPr>
          <p:nvPr>
            <p:ph type="title"/>
          </p:nvPr>
        </p:nvSpPr>
        <p:spPr>
          <a:xfrm>
            <a:off x="659876" y="452487"/>
            <a:ext cx="11387579" cy="939700"/>
          </a:xfrm>
        </p:spPr>
        <p:txBody>
          <a:bodyPr>
            <a:noAutofit/>
          </a:bodyPr>
          <a:lstStyle/>
          <a:p>
            <a:r>
              <a:rPr lang="en-US" dirty="0">
                <a:latin typeface="Times New Roman" panose="02020603050405020304" pitchFamily="18" charset="0"/>
                <a:cs typeface="Times New Roman" panose="02020603050405020304" pitchFamily="18" charset="0"/>
              </a:rPr>
              <a:t>Experience– Web Scraping &amp; Data Analysis:</a:t>
            </a:r>
            <a:endParaRPr lang="en-IN" dirty="0">
              <a:latin typeface="Times New Roman" panose="02020603050405020304" pitchFamily="18" charset="0"/>
              <a:cs typeface="Times New Roman" panose="02020603050405020304" pitchFamily="18" charset="0"/>
            </a:endParaRPr>
          </a:p>
        </p:txBody>
      </p:sp>
      <p:sp>
        <p:nvSpPr>
          <p:cNvPr id="3" name="Rectangle 2"/>
          <p:cNvSpPr/>
          <p:nvPr/>
        </p:nvSpPr>
        <p:spPr>
          <a:xfrm>
            <a:off x="659876" y="1392187"/>
            <a:ext cx="9492791" cy="4524315"/>
          </a:xfrm>
          <a:prstGeom prst="rect">
            <a:avLst/>
          </a:prstGeom>
        </p:spPr>
        <p:txBody>
          <a:bodyPr wrap="square">
            <a:spAutoFit/>
          </a:bodyPr>
          <a:lstStyle/>
          <a:p>
            <a:pPr marL="342900" lvl="0" defTabSz="914400"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Scraped Air conditioners data from Flipkart  website using </a:t>
            </a:r>
            <a:r>
              <a:rPr lang="en-US" altLang="en-US" sz="2400" dirty="0" err="1">
                <a:latin typeface="Times New Roman" panose="02020603050405020304" pitchFamily="18" charset="0"/>
                <a:cs typeface="Times New Roman" panose="02020603050405020304" pitchFamily="18" charset="0"/>
              </a:rPr>
              <a:t>BeautifulSoup</a:t>
            </a:r>
            <a:r>
              <a:rPr lang="en-US" altLang="en-US" sz="2400" dirty="0">
                <a:latin typeface="Times New Roman" panose="02020603050405020304" pitchFamily="18" charset="0"/>
                <a:cs typeface="Times New Roman" panose="02020603050405020304" pitchFamily="18" charset="0"/>
              </a:rPr>
              <a:t>, pandas And Regex.</a:t>
            </a:r>
          </a:p>
          <a:p>
            <a:pPr marL="342900" lvl="0" defTabSz="914400"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Cleaned and standardized data ('Brand', '</a:t>
            </a:r>
            <a:r>
              <a:rPr lang="en-US" altLang="en-US" sz="2400" dirty="0" err="1">
                <a:latin typeface="Times New Roman" panose="02020603050405020304" pitchFamily="18" charset="0"/>
                <a:cs typeface="Times New Roman" panose="02020603050405020304" pitchFamily="18" charset="0"/>
              </a:rPr>
              <a:t>Model_Year</a:t>
            </a:r>
            <a:r>
              <a:rPr lang="en-US" altLang="en-US" sz="2400" dirty="0">
                <a:latin typeface="Times New Roman" panose="02020603050405020304" pitchFamily="18" charset="0"/>
                <a:cs typeface="Times New Roman" panose="02020603050405020304" pitchFamily="18" charset="0"/>
              </a:rPr>
              <a:t>', 'Capacity', 'Star_Rating','</a:t>
            </a:r>
            <a:r>
              <a:rPr lang="en-US" altLang="en-US" sz="2400" dirty="0" err="1">
                <a:latin typeface="Times New Roman" panose="02020603050405020304" pitchFamily="18" charset="0"/>
                <a:cs typeface="Times New Roman" panose="02020603050405020304" pitchFamily="18" charset="0"/>
              </a:rPr>
              <a:t>Inverter_Type</a:t>
            </a:r>
            <a:r>
              <a:rPr lang="en-US" altLang="en-US" sz="2400" dirty="0">
                <a:latin typeface="Times New Roman" panose="02020603050405020304" pitchFamily="18" charset="0"/>
                <a:cs typeface="Times New Roman" panose="02020603050405020304" pitchFamily="18" charset="0"/>
              </a:rPr>
              <a:t>', 'Rating', '</a:t>
            </a:r>
            <a:r>
              <a:rPr lang="en-US" altLang="en-US" sz="2400" dirty="0" err="1">
                <a:latin typeface="Times New Roman" panose="02020603050405020304" pitchFamily="18" charset="0"/>
                <a:cs typeface="Times New Roman" panose="02020603050405020304" pitchFamily="18" charset="0"/>
              </a:rPr>
              <a:t>Annual_Power</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Room_size</a:t>
            </a:r>
            <a:r>
              <a:rPr lang="en-US" altLang="en-US" sz="2400" dirty="0">
                <a:latin typeface="Times New Roman" panose="02020603050405020304" pitchFamily="18" charset="0"/>
                <a:cs typeface="Times New Roman" panose="02020603050405020304" pitchFamily="18" charset="0"/>
              </a:rPr>
              <a:t>', 'Warranty‘.</a:t>
            </a:r>
            <a:r>
              <a:rPr lang="en-US" altLang="en-US" sz="2400" dirty="0" err="1">
                <a:latin typeface="Times New Roman" panose="02020603050405020304" pitchFamily="18" charset="0"/>
                <a:cs typeface="Times New Roman" panose="02020603050405020304" pitchFamily="18" charset="0"/>
              </a:rPr>
              <a:t>etc</a:t>
            </a:r>
            <a:r>
              <a:rPr lang="en-US" altLang="en-US" sz="2400" dirty="0">
                <a:latin typeface="Times New Roman" panose="02020603050405020304" pitchFamily="18" charset="0"/>
                <a:cs typeface="Times New Roman" panose="02020603050405020304" pitchFamily="18" charset="0"/>
              </a:rPr>
              <a:t>..,</a:t>
            </a:r>
          </a:p>
          <a:p>
            <a:pPr marL="342900" lvl="0" defTabSz="914400"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Created visualizations to improve sales of Ac’s from flipkart.</a:t>
            </a:r>
          </a:p>
          <a:p>
            <a:pPr marL="342900" lvl="0" defTabSz="914400"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Learned end-to-end data workflow: </a:t>
            </a:r>
            <a:r>
              <a:rPr lang="en-US" altLang="en-US" sz="2400" b="1" dirty="0">
                <a:latin typeface="Times New Roman" panose="02020603050405020304" pitchFamily="18" charset="0"/>
                <a:cs typeface="Times New Roman" panose="02020603050405020304" pitchFamily="18" charset="0"/>
              </a:rPr>
              <a:t>scraping → cleaning → analysis → visualization.</a:t>
            </a:r>
            <a:endParaRPr lang="en-US"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546927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D5E8E-6849-AC7C-6AB8-8B2CA1F3F652}"/>
              </a:ext>
            </a:extLst>
          </p:cNvPr>
          <p:cNvSpPr>
            <a:spLocks noGrp="1"/>
          </p:cNvSpPr>
          <p:nvPr>
            <p:ph type="title"/>
          </p:nvPr>
        </p:nvSpPr>
        <p:spPr>
          <a:xfrm>
            <a:off x="782425" y="593889"/>
            <a:ext cx="11409575" cy="688156"/>
          </a:xfrm>
        </p:spPr>
        <p:txBody>
          <a:bodyPr>
            <a:noAutofit/>
          </a:bodyPr>
          <a:lstStyle/>
          <a:p>
            <a:r>
              <a:rPr lang="en-IN" dirty="0">
                <a:latin typeface="Times New Roman" panose="02020603050405020304" pitchFamily="18" charset="0"/>
                <a:cs typeface="Times New Roman" panose="02020603050405020304" pitchFamily="18" charset="0"/>
              </a:rPr>
              <a:t>Challenges – Web Scraping &amp; Data Analysis:</a:t>
            </a:r>
          </a:p>
        </p:txBody>
      </p:sp>
      <p:sp>
        <p:nvSpPr>
          <p:cNvPr id="3" name="Rectangle 2"/>
          <p:cNvSpPr/>
          <p:nvPr/>
        </p:nvSpPr>
        <p:spPr>
          <a:xfrm>
            <a:off x="782425" y="1489435"/>
            <a:ext cx="8361575" cy="4154984"/>
          </a:xfrm>
          <a:prstGeom prst="rect">
            <a:avLst/>
          </a:prstGeom>
        </p:spPr>
        <p:txBody>
          <a:bodyPr wrap="square">
            <a:spAutoFit/>
          </a:bodyPr>
          <a:lstStyle/>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Dynamic webpage where data reloads and updates frequently.</a:t>
            </a:r>
          </a:p>
          <a:p>
            <a:pPr marL="342900" indent="-34290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Inconsistent HTML structures across product pages.</a:t>
            </a:r>
          </a:p>
          <a:p>
            <a:pPr marL="342900" indent="-34290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Missing or incomplete product details during extraction.</a:t>
            </a:r>
          </a:p>
          <a:p>
            <a:pPr marL="342900" indent="-34290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Handling duplicate and unclean scraped data.</a:t>
            </a:r>
          </a:p>
          <a:p>
            <a:pPr marL="342900" indent="-34290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Handling slow extraction due to dynamic page loading.</a:t>
            </a:r>
          </a:p>
          <a:p>
            <a:pPr marL="342900" indent="-34290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Selecting the most relevant visuals for insightful analysis.</a:t>
            </a:r>
          </a:p>
        </p:txBody>
      </p:sp>
    </p:spTree>
    <p:extLst>
      <p:ext uri="{BB962C8B-B14F-4D97-AF65-F5344CB8AC3E}">
        <p14:creationId xmlns:p14="http://schemas.microsoft.com/office/powerpoint/2010/main" val="3183708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2" name="Picture 1" descr="Thank you! | But I Smile Anyway..."/>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12192000" cy="6966409"/>
          </a:xfrm>
          <a:prstGeom prst="rect">
            <a:avLst/>
          </a:prstGeom>
        </p:spPr>
      </p:pic>
    </p:spTree>
    <p:extLst>
      <p:ext uri="{BB962C8B-B14F-4D97-AF65-F5344CB8AC3E}">
        <p14:creationId xmlns:p14="http://schemas.microsoft.com/office/powerpoint/2010/main" val="3564717593"/>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Droplet</Template>
  <TotalTime>179</TotalTime>
  <Words>1456</Words>
  <Application>Microsoft Office PowerPoint</Application>
  <PresentationFormat>Widescreen</PresentationFormat>
  <Paragraphs>129</Paragraphs>
  <Slides>25</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Times New Roman</vt:lpstr>
      <vt:lpstr>Tw Cen MT</vt:lpstr>
      <vt:lpstr>Droplet</vt:lpstr>
      <vt:lpstr>PowerPoint Presentation</vt:lpstr>
      <vt:lpstr>About ME:</vt:lpstr>
      <vt:lpstr>Introduction:</vt:lpstr>
      <vt:lpstr>Business Problem:</vt:lpstr>
      <vt:lpstr>Objectives:</vt:lpstr>
      <vt:lpstr>Web Scraping</vt:lpstr>
      <vt:lpstr>PowerPoint Presentation</vt:lpstr>
      <vt:lpstr>Data Cleaning Steps:</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Key Business Questions</vt:lpstr>
      <vt:lpstr>Conclusion:</vt:lpstr>
      <vt:lpstr>Any questions</vt:lpstr>
      <vt:lpstr>Experience– Web Scraping &amp; Data Analysis:</vt:lpstr>
      <vt:lpstr>Challenges – Web Scraping &amp; Data Analysis: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PATIVADA SRIHARI</cp:lastModifiedBy>
  <cp:revision>28</cp:revision>
  <dcterms:created xsi:type="dcterms:W3CDTF">2025-11-06T12:28:09Z</dcterms:created>
  <dcterms:modified xsi:type="dcterms:W3CDTF">2025-11-08T04:15:05Z</dcterms:modified>
</cp:coreProperties>
</file>